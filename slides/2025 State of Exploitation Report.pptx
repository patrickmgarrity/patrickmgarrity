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47625000" cy="26784300"/>
  <p:notesSz cx="6858000" cy="9144000"/>
  <p:embeddedFontLst>
    <p:embeddedFont>
      <p:font typeface="JetBrains Mono Bold" charset="1" panose="02010809030102050004"/>
      <p:regular r:id="rId21"/>
    </p:embeddedFont>
    <p:embeddedFont>
      <p:font typeface="JetBrains Mono" charset="1" panose="02010509020102050004"/>
      <p:regular r:id="rId22"/>
    </p:embeddedFont>
    <p:embeddedFont>
      <p:font typeface="Montserrat Bold" charset="1" panose="00000800000000000000"/>
      <p:regular r:id="rId23"/>
    </p:embeddedFont>
    <p:embeddedFont>
      <p:font typeface="Andale and WorldType Collection J" charset="1" panose="020B06090201040202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Exploited by Threat Actors who previously targeted my Organization</a:t>
            </a:r>
          </a:p>
          <a:p>
            <a:r>
              <a:rPr lang="en-US"/>
              <a:t>Exploited by Threat Actors who previously targeted similar Organizations</a:t>
            </a:r>
          </a:p>
          <a:p>
            <a:r>
              <a:rPr lang="en-US"/>
              <a:t>Exploited by Threat Actors (APT, Ransomware, Botnets)</a:t>
            </a:r>
          </a:p>
          <a:p>
            <a:r>
              <a:rPr lang="en-US"/>
              <a:t>Known Exploited In-the-Wild (ITW) [i.e., exploited by unknown parties]</a:t>
            </a:r>
          </a:p>
          <a:p>
            <a:r>
              <a:rPr lang="en-US"/>
              <a:t>Exploit Weaponization (i.e., in MetaSploit, in commercial or public/private Exploit Kits)</a:t>
            </a:r>
          </a:p>
          <a:p>
            <a:r>
              <a:rPr lang="en-US"/>
              <a:t>Exploit Proof of Concept Code available (RCE, LPE)</a:t>
            </a:r>
          </a:p>
          <a:p>
            <a:r>
              <a:rPr lang="en-US"/>
              <a:t>Code available that crashes the service</a:t>
            </a:r>
          </a:p>
          <a:p>
            <a:r>
              <a:rPr lang="en-US"/>
              <a:t>Very recent CVE (past week) which is very similar to past CVEs that are above (i.e., QNAP Command Injection released)</a:t>
            </a:r>
          </a:p>
          <a:p>
            <a:r>
              <a:rPr lang="en-US"/>
              <a:t>All CVEs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12" Target="../media/image15.png" Type="http://schemas.openxmlformats.org/officeDocument/2006/relationships/image"/><Relationship Id="rId13" Target="../media/image16.png" Type="http://schemas.openxmlformats.org/officeDocument/2006/relationships/image"/><Relationship Id="rId14" Target="../media/image17.png" Type="http://schemas.openxmlformats.org/officeDocument/2006/relationships/image"/><Relationship Id="rId15" Target="../media/image18.png" Type="http://schemas.openxmlformats.org/officeDocument/2006/relationships/image"/><Relationship Id="rId16" Target="../media/image19.png" Type="http://schemas.openxmlformats.org/officeDocument/2006/relationships/image"/><Relationship Id="rId17" Target="../media/image20.png" Type="http://schemas.openxmlformats.org/officeDocument/2006/relationships/image"/><Relationship Id="rId18" Target="../media/image21.png" Type="http://schemas.openxmlformats.org/officeDocument/2006/relationships/image"/><Relationship Id="rId19" Target="../media/image22.png" Type="http://schemas.openxmlformats.org/officeDocument/2006/relationships/image"/><Relationship Id="rId2" Target="../media/image7.png" Type="http://schemas.openxmlformats.org/officeDocument/2006/relationships/image"/><Relationship Id="rId20" Target="../media/image23.png" Type="http://schemas.openxmlformats.org/officeDocument/2006/relationships/image"/><Relationship Id="rId21" Target="../media/image24.png" Type="http://schemas.openxmlformats.org/officeDocument/2006/relationships/image"/><Relationship Id="rId22" Target="../media/image25.png" Type="http://schemas.openxmlformats.org/officeDocument/2006/relationships/image"/><Relationship Id="rId23" Target="../media/image26.png" Type="http://schemas.openxmlformats.org/officeDocument/2006/relationships/image"/><Relationship Id="rId24" Target="../media/image27.png" Type="http://schemas.openxmlformats.org/officeDocument/2006/relationships/image"/><Relationship Id="rId25" Target="../media/image28.png" Type="http://schemas.openxmlformats.org/officeDocument/2006/relationships/image"/><Relationship Id="rId26" Target="../media/image29.png" Type="http://schemas.openxmlformats.org/officeDocument/2006/relationships/image"/><Relationship Id="rId27" Target="../media/image30.png" Type="http://schemas.openxmlformats.org/officeDocument/2006/relationships/image"/><Relationship Id="rId28" Target="../media/image31.png" Type="http://schemas.openxmlformats.org/officeDocument/2006/relationships/image"/><Relationship Id="rId29" Target="../media/image32.png" Type="http://schemas.openxmlformats.org/officeDocument/2006/relationships/image"/><Relationship Id="rId3" Target="../media/image8.png" Type="http://schemas.openxmlformats.org/officeDocument/2006/relationships/image"/><Relationship Id="rId30" Target="../media/image33.png" Type="http://schemas.openxmlformats.org/officeDocument/2006/relationships/image"/><Relationship Id="rId31" Target="../media/image34.png" Type="http://schemas.openxmlformats.org/officeDocument/2006/relationships/image"/><Relationship Id="rId32" Target="../media/image35.png" Type="http://schemas.openxmlformats.org/officeDocument/2006/relationships/image"/><Relationship Id="rId33" Target="../media/image36.png" Type="http://schemas.openxmlformats.org/officeDocument/2006/relationships/image"/><Relationship Id="rId34" Target="../media/image37.png" Type="http://schemas.openxmlformats.org/officeDocument/2006/relationships/image"/><Relationship Id="rId35" Target="../media/image38.png" Type="http://schemas.openxmlformats.org/officeDocument/2006/relationships/image"/><Relationship Id="rId36" Target="../media/image39.png" Type="http://schemas.openxmlformats.org/officeDocument/2006/relationships/image"/><Relationship Id="rId37" Target="../media/image40.png" Type="http://schemas.openxmlformats.org/officeDocument/2006/relationships/image"/><Relationship Id="rId38" Target="../media/image41.png" Type="http://schemas.openxmlformats.org/officeDocument/2006/relationships/image"/><Relationship Id="rId39" Target="../media/image42.png" Type="http://schemas.openxmlformats.org/officeDocument/2006/relationships/image"/><Relationship Id="rId4" Target="../media/image1.png" Type="http://schemas.openxmlformats.org/officeDocument/2006/relationships/image"/><Relationship Id="rId40" Target="../media/image43.png" Type="http://schemas.openxmlformats.org/officeDocument/2006/relationships/image"/><Relationship Id="rId41" Target="../media/image44.png" Type="http://schemas.openxmlformats.org/officeDocument/2006/relationships/image"/><Relationship Id="rId42" Target="../media/image45.png" Type="http://schemas.openxmlformats.org/officeDocument/2006/relationships/image"/><Relationship Id="rId43" Target="../media/image46.png" Type="http://schemas.openxmlformats.org/officeDocument/2006/relationships/image"/><Relationship Id="rId44" Target="../media/image47.png" Type="http://schemas.openxmlformats.org/officeDocument/2006/relationships/image"/><Relationship Id="rId45" Target="../media/image48.png" Type="http://schemas.openxmlformats.org/officeDocument/2006/relationships/image"/><Relationship Id="rId46" Target="../media/image49.png" Type="http://schemas.openxmlformats.org/officeDocument/2006/relationships/image"/><Relationship Id="rId47" Target="../media/image50.png" Type="http://schemas.openxmlformats.org/officeDocument/2006/relationships/image"/><Relationship Id="rId48" Target="../media/image51.png" Type="http://schemas.openxmlformats.org/officeDocument/2006/relationships/image"/><Relationship Id="rId49" Target="../media/image52.png" Type="http://schemas.openxmlformats.org/officeDocument/2006/relationships/image"/><Relationship Id="rId5" Target="../media/image2.svg" Type="http://schemas.openxmlformats.org/officeDocument/2006/relationships/image"/><Relationship Id="rId50" Target="../media/image53.png" Type="http://schemas.openxmlformats.org/officeDocument/2006/relationships/image"/><Relationship Id="rId51" Target="../media/image54.png" Type="http://schemas.openxmlformats.org/officeDocument/2006/relationships/image"/><Relationship Id="rId52" Target="../media/image55.png" Type="http://schemas.openxmlformats.org/officeDocument/2006/relationships/image"/><Relationship Id="rId53" Target="../media/image56.png" Type="http://schemas.openxmlformats.org/officeDocument/2006/relationships/image"/><Relationship Id="rId54" Target="../media/image57.png" Type="http://schemas.openxmlformats.org/officeDocument/2006/relationships/image"/><Relationship Id="rId55" Target="../media/image58.png" Type="http://schemas.openxmlformats.org/officeDocument/2006/relationships/image"/><Relationship Id="rId56" Target="../media/image59.png" Type="http://schemas.openxmlformats.org/officeDocument/2006/relationships/image"/><Relationship Id="rId57" Target="../media/image60.png" Type="http://schemas.openxmlformats.org/officeDocument/2006/relationships/image"/><Relationship Id="rId58" Target="../media/image61.png" Type="http://schemas.openxmlformats.org/officeDocument/2006/relationships/image"/><Relationship Id="rId59" Target="../media/image62.png" Type="http://schemas.openxmlformats.org/officeDocument/2006/relationships/image"/><Relationship Id="rId6" Target="../media/image9.png" Type="http://schemas.openxmlformats.org/officeDocument/2006/relationships/image"/><Relationship Id="rId60" Target="../media/image63.png" Type="http://schemas.openxmlformats.org/officeDocument/2006/relationships/image"/><Relationship Id="rId61" Target="../media/image64.png" Type="http://schemas.openxmlformats.org/officeDocument/2006/relationships/image"/><Relationship Id="rId62" Target="../media/image65.png" Type="http://schemas.openxmlformats.org/officeDocument/2006/relationships/image"/><Relationship Id="rId63" Target="../media/image66.png" Type="http://schemas.openxmlformats.org/officeDocument/2006/relationships/image"/><Relationship Id="rId64" Target="../media/image67.png" Type="http://schemas.openxmlformats.org/officeDocument/2006/relationships/image"/><Relationship Id="rId65" Target="../media/image68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Relationship Id="rId3" Target="../media/image73.png" Type="http://schemas.openxmlformats.org/officeDocument/2006/relationships/image"/><Relationship Id="rId4" Target="../media/image74.png" Type="http://schemas.openxmlformats.org/officeDocument/2006/relationships/image"/><Relationship Id="rId5" Target="../media/image1.png" Type="http://schemas.openxmlformats.org/officeDocument/2006/relationships/image"/><Relationship Id="rId6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6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2679382" y="14031499"/>
            <a:ext cx="2561678" cy="0"/>
          </a:xfrm>
          <a:prstGeom prst="line">
            <a:avLst/>
          </a:prstGeom>
          <a:ln cap="flat" w="200025">
            <a:solidFill>
              <a:srgbClr val="9C9AE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679383" y="2679383"/>
            <a:ext cx="9989987" cy="1995503"/>
          </a:xfrm>
          <a:custGeom>
            <a:avLst/>
            <a:gdLst/>
            <a:ahLst/>
            <a:cxnLst/>
            <a:rect r="r" b="b" t="t" l="l"/>
            <a:pathLst>
              <a:path h="1995503" w="9989987">
                <a:moveTo>
                  <a:pt x="0" y="0"/>
                </a:moveTo>
                <a:lnTo>
                  <a:pt x="9989986" y="0"/>
                </a:lnTo>
                <a:lnTo>
                  <a:pt x="9989986" y="1995503"/>
                </a:lnTo>
                <a:lnTo>
                  <a:pt x="0" y="19955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051276" y="-9869537"/>
            <a:ext cx="29894565" cy="38698467"/>
          </a:xfrm>
          <a:custGeom>
            <a:avLst/>
            <a:gdLst/>
            <a:ahLst/>
            <a:cxnLst/>
            <a:rect r="r" b="b" t="t" l="l"/>
            <a:pathLst>
              <a:path h="38698467" w="29894565">
                <a:moveTo>
                  <a:pt x="0" y="0"/>
                </a:moveTo>
                <a:lnTo>
                  <a:pt x="29894566" y="0"/>
                </a:lnTo>
                <a:lnTo>
                  <a:pt x="29894566" y="38698467"/>
                </a:lnTo>
                <a:lnTo>
                  <a:pt x="0" y="38698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679382" y="20276011"/>
            <a:ext cx="17007855" cy="2814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59"/>
              </a:lnSpc>
            </a:pPr>
            <a:r>
              <a:rPr lang="en-US" sz="8899" b="true">
                <a:solidFill>
                  <a:srgbClr val="FFFFFF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Patrick Garrity</a:t>
            </a:r>
          </a:p>
          <a:p>
            <a:pPr algn="l">
              <a:lnSpc>
                <a:spcPts val="10080"/>
              </a:lnSpc>
            </a:pPr>
            <a:r>
              <a:rPr lang="en-US" sz="720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Security Researcher @ VulnCheck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79383" y="6653366"/>
            <a:ext cx="20014332" cy="622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6"/>
              </a:lnSpc>
            </a:pPr>
            <a:r>
              <a:rPr lang="en-US" sz="2482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State of </a:t>
            </a:r>
          </a:p>
          <a:p>
            <a:pPr algn="l">
              <a:lnSpc>
                <a:spcPts val="23836"/>
              </a:lnSpc>
            </a:pPr>
            <a:r>
              <a:rPr lang="en-US" sz="2482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Exploitation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79382" y="14937822"/>
            <a:ext cx="4002807" cy="224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85"/>
              </a:lnSpc>
            </a:pPr>
            <a:r>
              <a:rPr lang="en-US" sz="13132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10611" y="15596058"/>
            <a:ext cx="30226110" cy="3397673"/>
            <a:chOff x="0" y="0"/>
            <a:chExt cx="11286777" cy="12687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86777" cy="1268730"/>
            </a:xfrm>
            <a:custGeom>
              <a:avLst/>
              <a:gdLst/>
              <a:ahLst/>
              <a:cxnLst/>
              <a:rect r="r" b="b" t="t" l="l"/>
              <a:pathLst>
                <a:path h="1268730" w="11286777">
                  <a:moveTo>
                    <a:pt x="735330" y="0"/>
                  </a:moveTo>
                  <a:lnTo>
                    <a:pt x="0" y="1268730"/>
                  </a:lnTo>
                  <a:lnTo>
                    <a:pt x="11286777" y="1268730"/>
                  </a:lnTo>
                  <a:lnTo>
                    <a:pt x="10551447" y="0"/>
                  </a:lnTo>
                  <a:close/>
                </a:path>
              </a:pathLst>
            </a:custGeom>
            <a:solidFill>
              <a:srgbClr val="FFDD59">
                <a:alpha val="24706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900584" y="8385904"/>
            <a:ext cx="22011778" cy="3397673"/>
            <a:chOff x="0" y="0"/>
            <a:chExt cx="8219451" cy="126873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19451" cy="1268730"/>
            </a:xfrm>
            <a:custGeom>
              <a:avLst/>
              <a:gdLst/>
              <a:ahLst/>
              <a:cxnLst/>
              <a:rect r="r" b="b" t="t" l="l"/>
              <a:pathLst>
                <a:path h="1268730" w="8219451">
                  <a:moveTo>
                    <a:pt x="735330" y="0"/>
                  </a:moveTo>
                  <a:lnTo>
                    <a:pt x="0" y="1268730"/>
                  </a:lnTo>
                  <a:lnTo>
                    <a:pt x="8219451" y="1268730"/>
                  </a:lnTo>
                  <a:lnTo>
                    <a:pt x="7484121" y="0"/>
                  </a:lnTo>
                  <a:close/>
                </a:path>
              </a:pathLst>
            </a:custGeom>
            <a:solidFill>
              <a:srgbClr val="DE435B">
                <a:alpha val="2470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927071" y="3540116"/>
            <a:ext cx="14143643" cy="1551807"/>
            <a:chOff x="0" y="0"/>
            <a:chExt cx="11563593" cy="126873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63593" cy="1268730"/>
            </a:xfrm>
            <a:custGeom>
              <a:avLst/>
              <a:gdLst/>
              <a:ahLst/>
              <a:cxnLst/>
              <a:rect r="r" b="b" t="t" l="l"/>
              <a:pathLst>
                <a:path h="1268730" w="11563593">
                  <a:moveTo>
                    <a:pt x="735330" y="0"/>
                  </a:moveTo>
                  <a:lnTo>
                    <a:pt x="0" y="1268730"/>
                  </a:lnTo>
                  <a:lnTo>
                    <a:pt x="11563593" y="1268730"/>
                  </a:lnTo>
                  <a:lnTo>
                    <a:pt x="10828263" y="0"/>
                  </a:lnTo>
                  <a:close/>
                </a:path>
              </a:pathLst>
            </a:custGeom>
            <a:solidFill>
              <a:srgbClr val="7D2836">
                <a:alpha val="2470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804328" y="11983756"/>
            <a:ext cx="26095789" cy="3397673"/>
            <a:chOff x="0" y="0"/>
            <a:chExt cx="9744468" cy="126873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44468" cy="1268730"/>
            </a:xfrm>
            <a:custGeom>
              <a:avLst/>
              <a:gdLst/>
              <a:ahLst/>
              <a:cxnLst/>
              <a:rect r="r" b="b" t="t" l="l"/>
              <a:pathLst>
                <a:path h="1268730" w="9744468">
                  <a:moveTo>
                    <a:pt x="735330" y="0"/>
                  </a:moveTo>
                  <a:lnTo>
                    <a:pt x="0" y="1268730"/>
                  </a:lnTo>
                  <a:lnTo>
                    <a:pt x="9744468" y="1268730"/>
                  </a:lnTo>
                  <a:lnTo>
                    <a:pt x="9009138" y="0"/>
                  </a:lnTo>
                  <a:close/>
                </a:path>
              </a:pathLst>
            </a:custGeom>
            <a:solidFill>
              <a:srgbClr val="FEBA46">
                <a:alpha val="24706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749439" y="19179461"/>
            <a:ext cx="34196178" cy="3397673"/>
            <a:chOff x="0" y="0"/>
            <a:chExt cx="12769246" cy="12687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769246" cy="1268730"/>
            </a:xfrm>
            <a:custGeom>
              <a:avLst/>
              <a:gdLst/>
              <a:ahLst/>
              <a:cxnLst/>
              <a:rect r="r" b="b" t="t" l="l"/>
              <a:pathLst>
                <a:path h="1268730" w="12769246">
                  <a:moveTo>
                    <a:pt x="735330" y="0"/>
                  </a:moveTo>
                  <a:lnTo>
                    <a:pt x="0" y="1268730"/>
                  </a:lnTo>
                  <a:lnTo>
                    <a:pt x="12769246" y="1268730"/>
                  </a:lnTo>
                  <a:lnTo>
                    <a:pt x="12033917" y="0"/>
                  </a:lnTo>
                  <a:close/>
                </a:path>
              </a:pathLst>
            </a:custGeom>
            <a:solidFill>
              <a:srgbClr val="9B9AE3">
                <a:alpha val="24706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1371806" y="5213363"/>
            <a:ext cx="14608753" cy="1486549"/>
            <a:chOff x="0" y="0"/>
            <a:chExt cx="12468185" cy="12687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468185" cy="1268730"/>
            </a:xfrm>
            <a:custGeom>
              <a:avLst/>
              <a:gdLst/>
              <a:ahLst/>
              <a:cxnLst/>
              <a:rect r="r" b="b" t="t" l="l"/>
              <a:pathLst>
                <a:path h="1268730" w="12468185">
                  <a:moveTo>
                    <a:pt x="735330" y="0"/>
                  </a:moveTo>
                  <a:lnTo>
                    <a:pt x="0" y="1268730"/>
                  </a:lnTo>
                  <a:lnTo>
                    <a:pt x="12468185" y="1268730"/>
                  </a:lnTo>
                  <a:lnTo>
                    <a:pt x="11732855" y="0"/>
                  </a:lnTo>
                  <a:close/>
                </a:path>
              </a:pathLst>
            </a:custGeom>
            <a:solidFill>
              <a:srgbClr val="7D2836">
                <a:alpha val="24706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892371" y="6814626"/>
            <a:ext cx="14993930" cy="1486549"/>
            <a:chOff x="0" y="0"/>
            <a:chExt cx="12796923" cy="12687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96924" cy="1268730"/>
            </a:xfrm>
            <a:custGeom>
              <a:avLst/>
              <a:gdLst/>
              <a:ahLst/>
              <a:cxnLst/>
              <a:rect r="r" b="b" t="t" l="l"/>
              <a:pathLst>
                <a:path h="1268730" w="12796924">
                  <a:moveTo>
                    <a:pt x="735330" y="0"/>
                  </a:moveTo>
                  <a:lnTo>
                    <a:pt x="0" y="1268730"/>
                  </a:lnTo>
                  <a:lnTo>
                    <a:pt x="12796924" y="1268730"/>
                  </a:lnTo>
                  <a:lnTo>
                    <a:pt x="12061593" y="0"/>
                  </a:lnTo>
                  <a:close/>
                </a:path>
              </a:pathLst>
            </a:custGeom>
            <a:solidFill>
              <a:srgbClr val="7D2836">
                <a:alpha val="24706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733973" y="15596058"/>
            <a:ext cx="18143285" cy="3397673"/>
            <a:chOff x="0" y="0"/>
            <a:chExt cx="6774911" cy="12687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74911" cy="1268730"/>
            </a:xfrm>
            <a:custGeom>
              <a:avLst/>
              <a:gdLst/>
              <a:ahLst/>
              <a:cxnLst/>
              <a:rect r="r" b="b" t="t" l="l"/>
              <a:pathLst>
                <a:path h="1268730" w="6774911">
                  <a:moveTo>
                    <a:pt x="735330" y="0"/>
                  </a:moveTo>
                  <a:lnTo>
                    <a:pt x="0" y="1268730"/>
                  </a:lnTo>
                  <a:lnTo>
                    <a:pt x="6774911" y="1268730"/>
                  </a:lnTo>
                  <a:lnTo>
                    <a:pt x="6039582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4847149" y="11983756"/>
            <a:ext cx="13867207" cy="3397673"/>
            <a:chOff x="0" y="0"/>
            <a:chExt cx="5178175" cy="12687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78175" cy="1268730"/>
            </a:xfrm>
            <a:custGeom>
              <a:avLst/>
              <a:gdLst/>
              <a:ahLst/>
              <a:cxnLst/>
              <a:rect r="r" b="b" t="t" l="l"/>
              <a:pathLst>
                <a:path h="1268730" w="5178175">
                  <a:moveTo>
                    <a:pt x="735330" y="0"/>
                  </a:moveTo>
                  <a:lnTo>
                    <a:pt x="0" y="1268730"/>
                  </a:lnTo>
                  <a:lnTo>
                    <a:pt x="5178175" y="1268730"/>
                  </a:lnTo>
                  <a:lnTo>
                    <a:pt x="4442845" y="0"/>
                  </a:lnTo>
                  <a:close/>
                </a:path>
              </a:pathLst>
            </a:custGeom>
            <a:solidFill>
              <a:srgbClr val="FFC10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673985" y="19155856"/>
            <a:ext cx="22261711" cy="3397673"/>
            <a:chOff x="0" y="0"/>
            <a:chExt cx="8312779" cy="126873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12779" cy="1268730"/>
            </a:xfrm>
            <a:custGeom>
              <a:avLst/>
              <a:gdLst/>
              <a:ahLst/>
              <a:cxnLst/>
              <a:rect r="r" b="b" t="t" l="l"/>
              <a:pathLst>
                <a:path h="1268730" w="8312779">
                  <a:moveTo>
                    <a:pt x="735330" y="0"/>
                  </a:moveTo>
                  <a:lnTo>
                    <a:pt x="0" y="1268730"/>
                  </a:lnTo>
                  <a:lnTo>
                    <a:pt x="8312779" y="1268730"/>
                  </a:lnTo>
                  <a:lnTo>
                    <a:pt x="7577449" y="0"/>
                  </a:lnTo>
                  <a:close/>
                </a:path>
              </a:pathLst>
            </a:custGeom>
            <a:solidFill>
              <a:srgbClr val="9C9AE3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942190" y="8385904"/>
            <a:ext cx="9677126" cy="3397673"/>
            <a:chOff x="0" y="0"/>
            <a:chExt cx="3613550" cy="12687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613550" cy="1268730"/>
            </a:xfrm>
            <a:custGeom>
              <a:avLst/>
              <a:gdLst/>
              <a:ahLst/>
              <a:cxnLst/>
              <a:rect r="r" b="b" t="t" l="l"/>
              <a:pathLst>
                <a:path h="1268730" w="3613550">
                  <a:moveTo>
                    <a:pt x="735330" y="0"/>
                  </a:moveTo>
                  <a:lnTo>
                    <a:pt x="0" y="1268730"/>
                  </a:lnTo>
                  <a:lnTo>
                    <a:pt x="3613550" y="1268730"/>
                  </a:lnTo>
                  <a:lnTo>
                    <a:pt x="2878220" y="0"/>
                  </a:lnTo>
                  <a:close/>
                </a:path>
              </a:pathLst>
            </a:custGeom>
            <a:solidFill>
              <a:srgbClr val="FF7D2D"/>
            </a:solidFill>
          </p:spPr>
        </p:sp>
      </p:grpSp>
      <p:sp>
        <p:nvSpPr>
          <p:cNvPr name="TextBox 24" id="24"/>
          <p:cNvSpPr txBox="true"/>
          <p:nvPr/>
        </p:nvSpPr>
        <p:spPr>
          <a:xfrm rot="-3584882">
            <a:off x="13663511" y="6868224"/>
            <a:ext cx="968128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5"/>
              </a:lnSpc>
            </a:pPr>
            <a:r>
              <a:rPr lang="en-US" sz="5946" spc="118">
                <a:solidFill>
                  <a:srgbClr val="FFFFFF"/>
                </a:solidFill>
                <a:latin typeface="Andale and WorldType Collection J"/>
                <a:ea typeface="Andale and WorldType Collection J"/>
                <a:cs typeface="Andale and WorldType Collection J"/>
                <a:sym typeface="Andale and WorldType Collection J"/>
              </a:rPr>
              <a:t>Known Exploited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20858036" y="3522921"/>
            <a:ext cx="1786585" cy="1545396"/>
          </a:xfrm>
          <a:custGeom>
            <a:avLst/>
            <a:gdLst/>
            <a:ahLst/>
            <a:cxnLst/>
            <a:rect r="r" b="b" t="t" l="l"/>
            <a:pathLst>
              <a:path h="1545396" w="1786585">
                <a:moveTo>
                  <a:pt x="0" y="0"/>
                </a:moveTo>
                <a:lnTo>
                  <a:pt x="1786586" y="0"/>
                </a:lnTo>
                <a:lnTo>
                  <a:pt x="1786586" y="1545396"/>
                </a:lnTo>
                <a:lnTo>
                  <a:pt x="0" y="15453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9883510" y="5192095"/>
            <a:ext cx="3724223" cy="1507817"/>
            <a:chOff x="0" y="0"/>
            <a:chExt cx="3133692" cy="126873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33692" cy="1268730"/>
            </a:xfrm>
            <a:custGeom>
              <a:avLst/>
              <a:gdLst/>
              <a:ahLst/>
              <a:cxnLst/>
              <a:rect r="r" b="b" t="t" l="l"/>
              <a:pathLst>
                <a:path h="1268730" w="3133692">
                  <a:moveTo>
                    <a:pt x="735330" y="0"/>
                  </a:moveTo>
                  <a:lnTo>
                    <a:pt x="0" y="1268730"/>
                  </a:lnTo>
                  <a:lnTo>
                    <a:pt x="3133692" y="1268730"/>
                  </a:lnTo>
                  <a:lnTo>
                    <a:pt x="2398362" y="0"/>
                  </a:lnTo>
                  <a:close/>
                </a:path>
              </a:pathLst>
            </a:custGeom>
            <a:solidFill>
              <a:srgbClr val="C60C2E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8986573" y="6793358"/>
            <a:ext cx="5575382" cy="1507817"/>
            <a:chOff x="0" y="0"/>
            <a:chExt cx="4691322" cy="12687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691322" cy="1268730"/>
            </a:xfrm>
            <a:custGeom>
              <a:avLst/>
              <a:gdLst/>
              <a:ahLst/>
              <a:cxnLst/>
              <a:rect r="r" b="b" t="t" l="l"/>
              <a:pathLst>
                <a:path h="1268730" w="4691322">
                  <a:moveTo>
                    <a:pt x="735330" y="0"/>
                  </a:moveTo>
                  <a:lnTo>
                    <a:pt x="0" y="1268730"/>
                  </a:lnTo>
                  <a:lnTo>
                    <a:pt x="4691322" y="1268730"/>
                  </a:lnTo>
                  <a:lnTo>
                    <a:pt x="3955992" y="0"/>
                  </a:lnTo>
                  <a:close/>
                </a:path>
              </a:pathLst>
            </a:custGeom>
            <a:solidFill>
              <a:srgbClr val="C60C2E"/>
            </a:solid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40274927" y="24114442"/>
            <a:ext cx="4670690" cy="932972"/>
          </a:xfrm>
          <a:custGeom>
            <a:avLst/>
            <a:gdLst/>
            <a:ahLst/>
            <a:cxnLst/>
            <a:rect r="r" b="b" t="t" l="l"/>
            <a:pathLst>
              <a:path h="932972" w="4670690">
                <a:moveTo>
                  <a:pt x="0" y="0"/>
                </a:moveTo>
                <a:lnTo>
                  <a:pt x="4670690" y="0"/>
                </a:lnTo>
                <a:lnTo>
                  <a:pt x="4670690" y="932972"/>
                </a:lnTo>
                <a:lnTo>
                  <a:pt x="0" y="9329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679383" y="2784157"/>
            <a:ext cx="14141793" cy="292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40"/>
              </a:lnSpc>
            </a:pPr>
            <a:r>
              <a:rPr lang="en-US" b="true" sz="10400" spc="31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Vulnerability Threat Matrix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3452880" y="3800319"/>
            <a:ext cx="874157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58"/>
              </a:lnSpc>
            </a:pPr>
            <a:r>
              <a:rPr lang="en-US" b="true" sz="6549" spc="13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Ransomware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9066556" y="13214808"/>
            <a:ext cx="8224048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58"/>
              </a:lnSpc>
            </a:pPr>
            <a:r>
              <a:rPr lang="en-US" b="true" sz="6549" spc="13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Weaponized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3544134" y="20359392"/>
            <a:ext cx="7492939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58"/>
              </a:lnSpc>
            </a:pPr>
            <a:r>
              <a:rPr lang="en-US" b="true" sz="6549" spc="13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All Other CVEs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1289063" y="16773343"/>
            <a:ext cx="840733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58"/>
              </a:lnSpc>
            </a:pPr>
            <a:r>
              <a:rPr lang="en-US" b="true" sz="6549" spc="13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Proof-of-Concept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4397550" y="5450333"/>
            <a:ext cx="4278632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58"/>
              </a:lnSpc>
            </a:pPr>
            <a:r>
              <a:rPr lang="en-US" b="true" sz="6549" spc="13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Botnet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5458358" y="7047608"/>
            <a:ext cx="1120896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58"/>
              </a:lnSpc>
            </a:pPr>
            <a:r>
              <a:rPr lang="en-US" b="true" sz="6549" spc="13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Threat Actor (APT)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6969511" y="9589440"/>
            <a:ext cx="11208963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858"/>
              </a:lnSpc>
            </a:pPr>
            <a:r>
              <a:rPr lang="en-US" b="true" sz="6549" spc="13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Unattributed KEV</a:t>
            </a:r>
          </a:p>
        </p:txBody>
      </p:sp>
      <p:sp>
        <p:nvSpPr>
          <p:cNvPr name="TextBox 39" id="39"/>
          <p:cNvSpPr txBox="true"/>
          <p:nvPr/>
        </p:nvSpPr>
        <p:spPr>
          <a:xfrm rot="-3584882">
            <a:off x="9051644" y="14767066"/>
            <a:ext cx="968128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35"/>
              </a:lnSpc>
            </a:pPr>
            <a:r>
              <a:rPr lang="en-US" sz="5946" spc="118">
                <a:solidFill>
                  <a:srgbClr val="FFFFFF"/>
                </a:solidFill>
                <a:latin typeface="Andale and WorldType Collection J"/>
                <a:ea typeface="Andale and WorldType Collection J"/>
                <a:cs typeface="Andale and WorldType Collection J"/>
                <a:sym typeface="Andale and WorldType Collection J"/>
              </a:rPr>
              <a:t>Exploit Availability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049267" y="5823668"/>
            <a:ext cx="56738075" cy="15081920"/>
          </a:xfrm>
          <a:prstGeom prst="rect">
            <a:avLst/>
          </a:prstGeom>
        </p:spPr>
      </p:pic>
      <p:sp>
        <p:nvSpPr>
          <p:cNvPr name="AutoShape 3" id="3"/>
          <p:cNvSpPr/>
          <p:nvPr/>
        </p:nvSpPr>
        <p:spPr>
          <a:xfrm>
            <a:off x="3319367" y="16333431"/>
            <a:ext cx="40658076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3296681" y="15874104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5060576" y="15851269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9233671" y="16341091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6913120" y="16341091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8765663" y="15828434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43977443" y="15874104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41445880" y="16287761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V="true">
            <a:off x="38914318" y="15874104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33520865" y="15836094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29267644" y="15828434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36217591" y="16287761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31396534" y="16356266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24016654" y="16341091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H="true" flipV="true">
            <a:off x="3406767" y="15874104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3342352" y="16287761"/>
            <a:ext cx="0" cy="50499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2678906" y="2732945"/>
            <a:ext cx="28971294" cy="193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31"/>
              </a:lnSpc>
            </a:pPr>
            <a:r>
              <a:rPr lang="en-US" sz="1354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Known Exploited Vulnerabilities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78906" y="5280388"/>
            <a:ext cx="19047675" cy="2297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9"/>
              </a:lnSpc>
            </a:pPr>
            <a:r>
              <a:rPr lang="en-US" sz="6578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 From CVE to Exploitation Evidence</a:t>
            </a:r>
          </a:p>
          <a:p>
            <a:pPr algn="l">
              <a:lnSpc>
                <a:spcPts val="9209"/>
              </a:lnSpc>
            </a:pPr>
            <a:r>
              <a:rPr lang="en-US" sz="6578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Source: VulnCheck KEV 2025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66767" y="17291996"/>
            <a:ext cx="3333808" cy="88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2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&lt; 1 Day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60576" y="17291996"/>
            <a:ext cx="3705087" cy="174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2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1—31 Days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030696" y="17291996"/>
            <a:ext cx="3971916" cy="174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2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32—365 Days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540295" y="17291996"/>
            <a:ext cx="3509834" cy="174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2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1—2 Years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4707913" y="17291996"/>
            <a:ext cx="3019357" cy="1749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2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2—4 Years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540861" y="17291996"/>
            <a:ext cx="3810039" cy="88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2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4+ Years</a:t>
            </a:r>
          </a:p>
        </p:txBody>
      </p:sp>
      <p:sp>
        <p:nvSpPr>
          <p:cNvPr name="TextBox 27" id="27"/>
          <p:cNvSpPr txBox="true"/>
          <p:nvPr/>
        </p:nvSpPr>
        <p:spPr>
          <a:xfrm rot="5400000">
            <a:off x="-228170" y="20429314"/>
            <a:ext cx="7205603" cy="797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4687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Unpublished 2 (.23%)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902506" y="13388230"/>
            <a:ext cx="2420879" cy="162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b="true" sz="5295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254 </a:t>
            </a:r>
          </a:p>
          <a:p>
            <a:pPr algn="l">
              <a:lnSpc>
                <a:spcPts val="6406"/>
              </a:lnSpc>
            </a:pPr>
            <a:r>
              <a:rPr lang="en-US" b="true" sz="5295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28.73%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461398" y="13388230"/>
            <a:ext cx="2910155" cy="162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b="true" sz="5295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80 9.05%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9413350" y="13388230"/>
            <a:ext cx="2420879" cy="162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b="true" sz="5295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228</a:t>
            </a:r>
          </a:p>
          <a:p>
            <a:pPr algn="l">
              <a:lnSpc>
                <a:spcPts val="6406"/>
              </a:lnSpc>
            </a:pPr>
            <a:r>
              <a:rPr lang="en-US" b="true" sz="5295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25.79%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766739" y="13388230"/>
            <a:ext cx="3283390" cy="162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b="true" sz="5295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92 10.41%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091926" y="13388230"/>
            <a:ext cx="2420879" cy="162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b="true" sz="5295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117</a:t>
            </a:r>
          </a:p>
          <a:p>
            <a:pPr algn="l">
              <a:lnSpc>
                <a:spcPts val="6406"/>
              </a:lnSpc>
            </a:pPr>
            <a:r>
              <a:rPr lang="en-US" b="true" sz="5295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13.24%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9374138" y="13388230"/>
            <a:ext cx="2420879" cy="1624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6"/>
              </a:lnSpc>
            </a:pPr>
            <a:r>
              <a:rPr lang="en-US" b="true" sz="5295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111</a:t>
            </a:r>
          </a:p>
          <a:p>
            <a:pPr algn="l">
              <a:lnSpc>
                <a:spcPts val="6406"/>
              </a:lnSpc>
            </a:pPr>
            <a:r>
              <a:rPr lang="en-US" b="true" sz="5295">
                <a:solidFill>
                  <a:srgbClr val="000000"/>
                </a:solidFill>
                <a:latin typeface="JetBrains Mono Bold"/>
                <a:ea typeface="JetBrains Mono Bold"/>
                <a:cs typeface="JetBrains Mono Bold"/>
                <a:sym typeface="JetBrains Mono Bold"/>
              </a:rPr>
              <a:t>12.56%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38914318" y="24112538"/>
            <a:ext cx="6081628" cy="1214807"/>
          </a:xfrm>
          <a:custGeom>
            <a:avLst/>
            <a:gdLst/>
            <a:ahLst/>
            <a:cxnLst/>
            <a:rect r="r" b="b" t="t" l="l"/>
            <a:pathLst>
              <a:path h="1214807" w="6081628">
                <a:moveTo>
                  <a:pt x="0" y="0"/>
                </a:moveTo>
                <a:lnTo>
                  <a:pt x="6081627" y="0"/>
                </a:lnTo>
                <a:lnTo>
                  <a:pt x="6081627" y="1214807"/>
                </a:lnTo>
                <a:lnTo>
                  <a:pt x="0" y="12148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79382" y="11549457"/>
            <a:ext cx="10328449" cy="333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343"/>
              </a:lnSpc>
            </a:pPr>
            <a:r>
              <a:rPr lang="en-US" sz="1953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4200895">
            <a:off x="26051276" y="-9869537"/>
            <a:ext cx="29894565" cy="38698467"/>
          </a:xfrm>
          <a:custGeom>
            <a:avLst/>
            <a:gdLst/>
            <a:ahLst/>
            <a:cxnLst/>
            <a:rect r="r" b="b" t="t" l="l"/>
            <a:pathLst>
              <a:path h="38698467" w="29894565">
                <a:moveTo>
                  <a:pt x="0" y="0"/>
                </a:moveTo>
                <a:lnTo>
                  <a:pt x="29894566" y="0"/>
                </a:lnTo>
                <a:lnTo>
                  <a:pt x="29894566" y="38698467"/>
                </a:lnTo>
                <a:lnTo>
                  <a:pt x="0" y="386984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274927" y="24114442"/>
            <a:ext cx="4670690" cy="932972"/>
          </a:xfrm>
          <a:custGeom>
            <a:avLst/>
            <a:gdLst/>
            <a:ahLst/>
            <a:cxnLst/>
            <a:rect r="r" b="b" t="t" l="l"/>
            <a:pathLst>
              <a:path h="932972" w="4670690">
                <a:moveTo>
                  <a:pt x="0" y="0"/>
                </a:moveTo>
                <a:lnTo>
                  <a:pt x="4670690" y="0"/>
                </a:lnTo>
                <a:lnTo>
                  <a:pt x="4670690" y="932972"/>
                </a:lnTo>
                <a:lnTo>
                  <a:pt x="0" y="932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755613" y="9262626"/>
            <a:ext cx="4599536" cy="4592615"/>
          </a:xfrm>
          <a:custGeom>
            <a:avLst/>
            <a:gdLst/>
            <a:ahLst/>
            <a:cxnLst/>
            <a:rect r="r" b="b" t="t" l="l"/>
            <a:pathLst>
              <a:path h="4592615" w="4599536">
                <a:moveTo>
                  <a:pt x="0" y="0"/>
                </a:moveTo>
                <a:lnTo>
                  <a:pt x="4599536" y="0"/>
                </a:lnTo>
                <a:lnTo>
                  <a:pt x="4599536" y="4592614"/>
                </a:lnTo>
                <a:lnTo>
                  <a:pt x="0" y="4592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2" r="-30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203524" y="21054738"/>
            <a:ext cx="3537223" cy="3537223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2346267" y="12327769"/>
            <a:ext cx="9721856" cy="972185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10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2739155" y="16011113"/>
            <a:ext cx="8893116" cy="2355168"/>
          </a:xfrm>
          <a:custGeom>
            <a:avLst/>
            <a:gdLst/>
            <a:ahLst/>
            <a:cxnLst/>
            <a:rect r="r" b="b" t="t" l="l"/>
            <a:pathLst>
              <a:path h="2355168" w="8893116">
                <a:moveTo>
                  <a:pt x="0" y="0"/>
                </a:moveTo>
                <a:lnTo>
                  <a:pt x="8893116" y="0"/>
                </a:lnTo>
                <a:lnTo>
                  <a:pt x="8893116" y="2355168"/>
                </a:lnTo>
                <a:lnTo>
                  <a:pt x="0" y="23551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2706155" y="1756256"/>
            <a:ext cx="7002609" cy="700260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5BB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3195930" y="4656006"/>
            <a:ext cx="6023058" cy="1203108"/>
          </a:xfrm>
          <a:custGeom>
            <a:avLst/>
            <a:gdLst/>
            <a:ahLst/>
            <a:cxnLst/>
            <a:rect r="r" b="b" t="t" l="l"/>
            <a:pathLst>
              <a:path h="1203108" w="6023058">
                <a:moveTo>
                  <a:pt x="0" y="0"/>
                </a:moveTo>
                <a:lnTo>
                  <a:pt x="6023059" y="0"/>
                </a:lnTo>
                <a:lnTo>
                  <a:pt x="6023059" y="1203108"/>
                </a:lnTo>
                <a:lnTo>
                  <a:pt x="0" y="12031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35771801" y="14050826"/>
            <a:ext cx="9656149" cy="965614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674" lIns="50674" bIns="50674" rIns="50674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1840697" y="17936138"/>
            <a:ext cx="2749916" cy="274991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276A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1936125" y="18821201"/>
            <a:ext cx="2559060" cy="979791"/>
          </a:xfrm>
          <a:custGeom>
            <a:avLst/>
            <a:gdLst/>
            <a:ahLst/>
            <a:cxnLst/>
            <a:rect r="r" b="b" t="t" l="l"/>
            <a:pathLst>
              <a:path h="979791" w="2559060">
                <a:moveTo>
                  <a:pt x="0" y="0"/>
                </a:moveTo>
                <a:lnTo>
                  <a:pt x="2559060" y="0"/>
                </a:lnTo>
                <a:lnTo>
                  <a:pt x="2559060" y="979791"/>
                </a:lnTo>
                <a:lnTo>
                  <a:pt x="0" y="9797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4803" t="-44402" r="0" b="-38954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41310288" y="10519664"/>
            <a:ext cx="3992308" cy="399230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7D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32590249" y="11560776"/>
            <a:ext cx="4554836" cy="4554836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71D7C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32865205" y="13496833"/>
            <a:ext cx="4004924" cy="682722"/>
          </a:xfrm>
          <a:custGeom>
            <a:avLst/>
            <a:gdLst/>
            <a:ahLst/>
            <a:cxnLst/>
            <a:rect r="r" b="b" t="t" l="l"/>
            <a:pathLst>
              <a:path h="682722" w="4004924">
                <a:moveTo>
                  <a:pt x="0" y="0"/>
                </a:moveTo>
                <a:lnTo>
                  <a:pt x="4004924" y="0"/>
                </a:lnTo>
                <a:lnTo>
                  <a:pt x="4004924" y="682722"/>
                </a:lnTo>
                <a:lnTo>
                  <a:pt x="0" y="6827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5541" t="-236546" r="-36068" b="-229715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23703048" y="7717298"/>
            <a:ext cx="4469831" cy="446983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6464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23882485" y="9589078"/>
            <a:ext cx="4110956" cy="726269"/>
          </a:xfrm>
          <a:custGeom>
            <a:avLst/>
            <a:gdLst/>
            <a:ahLst/>
            <a:cxnLst/>
            <a:rect r="r" b="b" t="t" l="l"/>
            <a:pathLst>
              <a:path h="726269" w="4110956">
                <a:moveTo>
                  <a:pt x="0" y="0"/>
                </a:moveTo>
                <a:lnTo>
                  <a:pt x="4110956" y="0"/>
                </a:lnTo>
                <a:lnTo>
                  <a:pt x="4110956" y="726269"/>
                </a:lnTo>
                <a:lnTo>
                  <a:pt x="0" y="7262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30005967" y="1883877"/>
            <a:ext cx="1718480" cy="1718480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E6DFC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29951792" y="2423422"/>
            <a:ext cx="1826829" cy="639390"/>
          </a:xfrm>
          <a:custGeom>
            <a:avLst/>
            <a:gdLst/>
            <a:ahLst/>
            <a:cxnLst/>
            <a:rect r="r" b="b" t="t" l="l"/>
            <a:pathLst>
              <a:path h="639390" w="1826829">
                <a:moveTo>
                  <a:pt x="0" y="0"/>
                </a:moveTo>
                <a:lnTo>
                  <a:pt x="1826830" y="0"/>
                </a:lnTo>
                <a:lnTo>
                  <a:pt x="1826830" y="639390"/>
                </a:lnTo>
                <a:lnTo>
                  <a:pt x="0" y="6393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30854146" y="6481679"/>
            <a:ext cx="2147847" cy="214784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B85C1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31049315" y="7247173"/>
            <a:ext cx="1699620" cy="605553"/>
          </a:xfrm>
          <a:custGeom>
            <a:avLst/>
            <a:gdLst/>
            <a:ahLst/>
            <a:cxnLst/>
            <a:rect r="r" b="b" t="t" l="l"/>
            <a:pathLst>
              <a:path h="605553" w="1699620">
                <a:moveTo>
                  <a:pt x="0" y="0"/>
                </a:moveTo>
                <a:lnTo>
                  <a:pt x="1699620" y="0"/>
                </a:lnTo>
                <a:lnTo>
                  <a:pt x="1699620" y="605554"/>
                </a:lnTo>
                <a:lnTo>
                  <a:pt x="0" y="6055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29427365" y="3714869"/>
            <a:ext cx="2878466" cy="2878466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29661349" y="4702524"/>
            <a:ext cx="2410497" cy="903158"/>
          </a:xfrm>
          <a:custGeom>
            <a:avLst/>
            <a:gdLst/>
            <a:ahLst/>
            <a:cxnLst/>
            <a:rect r="r" b="b" t="t" l="l"/>
            <a:pathLst>
              <a:path h="903158" w="2410497">
                <a:moveTo>
                  <a:pt x="0" y="0"/>
                </a:moveTo>
                <a:lnTo>
                  <a:pt x="2410497" y="0"/>
                </a:lnTo>
                <a:lnTo>
                  <a:pt x="2410497" y="903157"/>
                </a:lnTo>
                <a:lnTo>
                  <a:pt x="0" y="90315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38808421" y="7507913"/>
            <a:ext cx="1616455" cy="1616455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38768801" y="7748083"/>
            <a:ext cx="1695694" cy="1136115"/>
          </a:xfrm>
          <a:custGeom>
            <a:avLst/>
            <a:gdLst/>
            <a:ahLst/>
            <a:cxnLst/>
            <a:rect r="r" b="b" t="t" l="l"/>
            <a:pathLst>
              <a:path h="1136115" w="1695694">
                <a:moveTo>
                  <a:pt x="0" y="0"/>
                </a:moveTo>
                <a:lnTo>
                  <a:pt x="1695694" y="0"/>
                </a:lnTo>
                <a:lnTo>
                  <a:pt x="1695694" y="1136115"/>
                </a:lnTo>
                <a:lnTo>
                  <a:pt x="0" y="113611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28119545" y="9712342"/>
            <a:ext cx="2868827" cy="2868827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36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28159707" y="9829489"/>
            <a:ext cx="2828665" cy="2828665"/>
          </a:xfrm>
          <a:custGeom>
            <a:avLst/>
            <a:gdLst/>
            <a:ahLst/>
            <a:cxnLst/>
            <a:rect r="r" b="b" t="t" l="l"/>
            <a:pathLst>
              <a:path h="2828665" w="2828665">
                <a:moveTo>
                  <a:pt x="0" y="0"/>
                </a:moveTo>
                <a:lnTo>
                  <a:pt x="2828665" y="0"/>
                </a:lnTo>
                <a:lnTo>
                  <a:pt x="2828665" y="2828665"/>
                </a:lnTo>
                <a:lnTo>
                  <a:pt x="0" y="282866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44365916" y="14435922"/>
            <a:ext cx="1538386" cy="1538386"/>
            <a:chOff x="0" y="0"/>
            <a:chExt cx="812800" cy="8128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C8C8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55" id="55"/>
          <p:cNvSpPr/>
          <p:nvPr/>
        </p:nvSpPr>
        <p:spPr>
          <a:xfrm flipH="false" flipV="false" rot="0">
            <a:off x="44490359" y="14560365"/>
            <a:ext cx="1289499" cy="1289499"/>
          </a:xfrm>
          <a:custGeom>
            <a:avLst/>
            <a:gdLst/>
            <a:ahLst/>
            <a:cxnLst/>
            <a:rect r="r" b="b" t="t" l="l"/>
            <a:pathLst>
              <a:path h="1289499" w="1289499">
                <a:moveTo>
                  <a:pt x="0" y="0"/>
                </a:moveTo>
                <a:lnTo>
                  <a:pt x="1289499" y="0"/>
                </a:lnTo>
                <a:lnTo>
                  <a:pt x="1289499" y="1289499"/>
                </a:lnTo>
                <a:lnTo>
                  <a:pt x="0" y="128949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31130650" y="9839745"/>
            <a:ext cx="1332766" cy="1332766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DEA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31072756" y="9781851"/>
            <a:ext cx="1448554" cy="1448554"/>
          </a:xfrm>
          <a:custGeom>
            <a:avLst/>
            <a:gdLst/>
            <a:ahLst/>
            <a:cxnLst/>
            <a:rect r="r" b="b" t="t" l="l"/>
            <a:pathLst>
              <a:path h="1448554" w="1448554">
                <a:moveTo>
                  <a:pt x="0" y="0"/>
                </a:moveTo>
                <a:lnTo>
                  <a:pt x="1448554" y="0"/>
                </a:lnTo>
                <a:lnTo>
                  <a:pt x="1448554" y="1448554"/>
                </a:lnTo>
                <a:lnTo>
                  <a:pt x="0" y="14485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25973885" y="3892688"/>
            <a:ext cx="3253329" cy="3253329"/>
            <a:chOff x="0" y="0"/>
            <a:chExt cx="812800" cy="812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2" id="6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26142032" y="5320461"/>
            <a:ext cx="2934946" cy="434372"/>
          </a:xfrm>
          <a:custGeom>
            <a:avLst/>
            <a:gdLst/>
            <a:ahLst/>
            <a:cxnLst/>
            <a:rect r="r" b="b" t="t" l="l"/>
            <a:pathLst>
              <a:path h="434372" w="2934946">
                <a:moveTo>
                  <a:pt x="0" y="0"/>
                </a:moveTo>
                <a:lnTo>
                  <a:pt x="2934946" y="0"/>
                </a:lnTo>
                <a:lnTo>
                  <a:pt x="2934946" y="434372"/>
                </a:lnTo>
                <a:lnTo>
                  <a:pt x="0" y="4343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grpSp>
        <p:nvGrpSpPr>
          <p:cNvPr name="Group 64" id="64"/>
          <p:cNvGrpSpPr/>
          <p:nvPr/>
        </p:nvGrpSpPr>
        <p:grpSpPr>
          <a:xfrm rot="0">
            <a:off x="40448368" y="6255002"/>
            <a:ext cx="2869366" cy="2869366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40662385" y="7372312"/>
            <a:ext cx="2441332" cy="634746"/>
          </a:xfrm>
          <a:custGeom>
            <a:avLst/>
            <a:gdLst/>
            <a:ahLst/>
            <a:cxnLst/>
            <a:rect r="r" b="b" t="t" l="l"/>
            <a:pathLst>
              <a:path h="634746" w="2441332">
                <a:moveTo>
                  <a:pt x="0" y="0"/>
                </a:moveTo>
                <a:lnTo>
                  <a:pt x="2441332" y="0"/>
                </a:lnTo>
                <a:lnTo>
                  <a:pt x="2441332" y="634746"/>
                </a:lnTo>
                <a:lnTo>
                  <a:pt x="0" y="63474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45360475" y="17142513"/>
            <a:ext cx="1087654" cy="1087654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0" id="7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42823961" y="8206945"/>
            <a:ext cx="2281766" cy="2281766"/>
            <a:chOff x="0" y="0"/>
            <a:chExt cx="812800" cy="8128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3" id="7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74" id="74"/>
          <p:cNvSpPr/>
          <p:nvPr/>
        </p:nvSpPr>
        <p:spPr>
          <a:xfrm flipH="false" flipV="false" rot="0">
            <a:off x="43014712" y="8330815"/>
            <a:ext cx="1906486" cy="1869989"/>
          </a:xfrm>
          <a:custGeom>
            <a:avLst/>
            <a:gdLst/>
            <a:ahLst/>
            <a:cxnLst/>
            <a:rect r="r" b="b" t="t" l="l"/>
            <a:pathLst>
              <a:path h="1869989" w="1906486">
                <a:moveTo>
                  <a:pt x="0" y="0"/>
                </a:moveTo>
                <a:lnTo>
                  <a:pt x="1906486" y="0"/>
                </a:lnTo>
                <a:lnTo>
                  <a:pt x="1906486" y="1869989"/>
                </a:lnTo>
                <a:lnTo>
                  <a:pt x="0" y="186998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89559" t="-33024" r="-87533" b="-28471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27814021" y="7121863"/>
            <a:ext cx="1847329" cy="1847329"/>
            <a:chOff x="0" y="0"/>
            <a:chExt cx="812800" cy="812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A2DA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78" id="78"/>
          <p:cNvSpPr/>
          <p:nvPr/>
        </p:nvSpPr>
        <p:spPr>
          <a:xfrm flipH="false" flipV="false" rot="0">
            <a:off x="27897074" y="7499959"/>
            <a:ext cx="1648037" cy="1091138"/>
          </a:xfrm>
          <a:custGeom>
            <a:avLst/>
            <a:gdLst/>
            <a:ahLst/>
            <a:cxnLst/>
            <a:rect r="r" b="b" t="t" l="l"/>
            <a:pathLst>
              <a:path h="1091138" w="1648037">
                <a:moveTo>
                  <a:pt x="0" y="0"/>
                </a:moveTo>
                <a:lnTo>
                  <a:pt x="1648037" y="0"/>
                </a:lnTo>
                <a:lnTo>
                  <a:pt x="1648037" y="1091138"/>
                </a:lnTo>
                <a:lnTo>
                  <a:pt x="0" y="1091138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grpSp>
        <p:nvGrpSpPr>
          <p:cNvPr name="Group 79" id="79"/>
          <p:cNvGrpSpPr/>
          <p:nvPr/>
        </p:nvGrpSpPr>
        <p:grpSpPr>
          <a:xfrm rot="0">
            <a:off x="28387024" y="2567567"/>
            <a:ext cx="1325120" cy="1325120"/>
            <a:chOff x="0" y="0"/>
            <a:chExt cx="812800" cy="812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0542D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28480486" y="3087379"/>
            <a:ext cx="1138196" cy="285497"/>
          </a:xfrm>
          <a:custGeom>
            <a:avLst/>
            <a:gdLst/>
            <a:ahLst/>
            <a:cxnLst/>
            <a:rect r="r" b="b" t="t" l="l"/>
            <a:pathLst>
              <a:path h="285497" w="1138196">
                <a:moveTo>
                  <a:pt x="0" y="0"/>
                </a:moveTo>
                <a:lnTo>
                  <a:pt x="1138196" y="0"/>
                </a:lnTo>
                <a:lnTo>
                  <a:pt x="1138196" y="285497"/>
                </a:lnTo>
                <a:lnTo>
                  <a:pt x="0" y="285497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31993973" y="403450"/>
            <a:ext cx="2016040" cy="2016040"/>
            <a:chOff x="0" y="0"/>
            <a:chExt cx="812800" cy="8128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1243A"/>
            </a:solidFill>
          </p:spPr>
        </p:sp>
        <p:sp>
          <p:nvSpPr>
            <p:cNvPr name="TextBox 85" id="8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86" id="86"/>
          <p:cNvSpPr/>
          <p:nvPr/>
        </p:nvSpPr>
        <p:spPr>
          <a:xfrm flipH="false" flipV="false" rot="0">
            <a:off x="32012131" y="421608"/>
            <a:ext cx="1979724" cy="1979724"/>
          </a:xfrm>
          <a:custGeom>
            <a:avLst/>
            <a:gdLst/>
            <a:ahLst/>
            <a:cxnLst/>
            <a:rect r="r" b="b" t="t" l="l"/>
            <a:pathLst>
              <a:path h="1979724" w="1979724">
                <a:moveTo>
                  <a:pt x="0" y="0"/>
                </a:moveTo>
                <a:lnTo>
                  <a:pt x="1979724" y="0"/>
                </a:lnTo>
                <a:lnTo>
                  <a:pt x="1979724" y="1979724"/>
                </a:lnTo>
                <a:lnTo>
                  <a:pt x="0" y="197972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0">
            <a:off x="40853596" y="4366913"/>
            <a:ext cx="1711832" cy="1711832"/>
            <a:chOff x="0" y="0"/>
            <a:chExt cx="812800" cy="81280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D4C50"/>
            </a:solidFill>
          </p:spPr>
        </p:sp>
        <p:sp>
          <p:nvSpPr>
            <p:cNvPr name="TextBox 89" id="8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40880992" y="5069301"/>
            <a:ext cx="1657040" cy="307056"/>
          </a:xfrm>
          <a:custGeom>
            <a:avLst/>
            <a:gdLst/>
            <a:ahLst/>
            <a:cxnLst/>
            <a:rect r="r" b="b" t="t" l="l"/>
            <a:pathLst>
              <a:path h="307056" w="1657040">
                <a:moveTo>
                  <a:pt x="0" y="0"/>
                </a:moveTo>
                <a:lnTo>
                  <a:pt x="1657040" y="0"/>
                </a:lnTo>
                <a:lnTo>
                  <a:pt x="1657040" y="307056"/>
                </a:lnTo>
                <a:lnTo>
                  <a:pt x="0" y="30705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17371" t="-129041" r="-14099" b="-141294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30525077" y="20588581"/>
            <a:ext cx="1332832" cy="1332832"/>
            <a:chOff x="0" y="0"/>
            <a:chExt cx="812800" cy="8128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94" id="94"/>
          <p:cNvSpPr/>
          <p:nvPr/>
        </p:nvSpPr>
        <p:spPr>
          <a:xfrm flipH="false" flipV="false" rot="0">
            <a:off x="30441550" y="20919103"/>
            <a:ext cx="1535882" cy="658235"/>
          </a:xfrm>
          <a:custGeom>
            <a:avLst/>
            <a:gdLst/>
            <a:ahLst/>
            <a:cxnLst/>
            <a:rect r="r" b="b" t="t" l="l"/>
            <a:pathLst>
              <a:path h="658235" w="1535882">
                <a:moveTo>
                  <a:pt x="0" y="0"/>
                </a:moveTo>
                <a:lnTo>
                  <a:pt x="1535881" y="0"/>
                </a:lnTo>
                <a:lnTo>
                  <a:pt x="1535881" y="658235"/>
                </a:lnTo>
                <a:lnTo>
                  <a:pt x="0" y="658235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grpSp>
        <p:nvGrpSpPr>
          <p:cNvPr name="Group 95" id="95"/>
          <p:cNvGrpSpPr/>
          <p:nvPr/>
        </p:nvGrpSpPr>
        <p:grpSpPr>
          <a:xfrm rot="0">
            <a:off x="32008425" y="2469901"/>
            <a:ext cx="1097370" cy="1097370"/>
            <a:chOff x="0" y="0"/>
            <a:chExt cx="812800" cy="8128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7D2D"/>
            </a:solidFill>
          </p:spPr>
        </p:sp>
        <p:sp>
          <p:nvSpPr>
            <p:cNvPr name="TextBox 97" id="9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98" id="98"/>
          <p:cNvSpPr/>
          <p:nvPr/>
        </p:nvSpPr>
        <p:spPr>
          <a:xfrm flipH="false" flipV="false" rot="0">
            <a:off x="32055496" y="2869989"/>
            <a:ext cx="1003228" cy="290395"/>
          </a:xfrm>
          <a:custGeom>
            <a:avLst/>
            <a:gdLst/>
            <a:ahLst/>
            <a:cxnLst/>
            <a:rect r="r" b="b" t="t" l="l"/>
            <a:pathLst>
              <a:path h="290395" w="1003228">
                <a:moveTo>
                  <a:pt x="0" y="0"/>
                </a:moveTo>
                <a:lnTo>
                  <a:pt x="1003227" y="0"/>
                </a:lnTo>
                <a:lnTo>
                  <a:pt x="1003227" y="290395"/>
                </a:lnTo>
                <a:lnTo>
                  <a:pt x="0" y="290395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-123047" t="-285419" r="-120526" b="-282236"/>
            </a:stretch>
          </a:blipFill>
        </p:spPr>
      </p:sp>
      <p:grpSp>
        <p:nvGrpSpPr>
          <p:cNvPr name="Group 99" id="99"/>
          <p:cNvGrpSpPr/>
          <p:nvPr/>
        </p:nvGrpSpPr>
        <p:grpSpPr>
          <a:xfrm rot="0">
            <a:off x="21682932" y="11558933"/>
            <a:ext cx="1108562" cy="1108562"/>
            <a:chOff x="0" y="0"/>
            <a:chExt cx="812800" cy="8128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2B2E"/>
            </a:solidFill>
          </p:spPr>
        </p:sp>
        <p:sp>
          <p:nvSpPr>
            <p:cNvPr name="TextBox 101" id="10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102" id="102"/>
          <p:cNvSpPr/>
          <p:nvPr/>
        </p:nvSpPr>
        <p:spPr>
          <a:xfrm flipH="false" flipV="false" rot="0">
            <a:off x="21687707" y="11568483"/>
            <a:ext cx="1099011" cy="1099011"/>
          </a:xfrm>
          <a:custGeom>
            <a:avLst/>
            <a:gdLst/>
            <a:ahLst/>
            <a:cxnLst/>
            <a:rect r="r" b="b" t="t" l="l"/>
            <a:pathLst>
              <a:path h="1099011" w="1099011">
                <a:moveTo>
                  <a:pt x="0" y="0"/>
                </a:moveTo>
                <a:lnTo>
                  <a:pt x="1099011" y="0"/>
                </a:lnTo>
                <a:lnTo>
                  <a:pt x="1099011" y="1099012"/>
                </a:lnTo>
                <a:lnTo>
                  <a:pt x="0" y="1099012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grpSp>
        <p:nvGrpSpPr>
          <p:cNvPr name="Group 103" id="103"/>
          <p:cNvGrpSpPr/>
          <p:nvPr/>
        </p:nvGrpSpPr>
        <p:grpSpPr>
          <a:xfrm rot="0">
            <a:off x="38391660" y="23715313"/>
            <a:ext cx="1341969" cy="1341969"/>
            <a:chOff x="0" y="0"/>
            <a:chExt cx="812800" cy="8128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5" id="10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27107558" y="22133432"/>
            <a:ext cx="1333430" cy="1333430"/>
            <a:chOff x="0" y="0"/>
            <a:chExt cx="812800" cy="81280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08" id="10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109" id="109"/>
          <p:cNvSpPr/>
          <p:nvPr/>
        </p:nvSpPr>
        <p:spPr>
          <a:xfrm flipH="false" flipV="false" rot="0">
            <a:off x="27250937" y="22175529"/>
            <a:ext cx="1046672" cy="1056410"/>
          </a:xfrm>
          <a:custGeom>
            <a:avLst/>
            <a:gdLst/>
            <a:ahLst/>
            <a:cxnLst/>
            <a:rect r="r" b="b" t="t" l="l"/>
            <a:pathLst>
              <a:path h="1056410" w="1046672">
                <a:moveTo>
                  <a:pt x="0" y="0"/>
                </a:moveTo>
                <a:lnTo>
                  <a:pt x="1046673" y="0"/>
                </a:lnTo>
                <a:lnTo>
                  <a:pt x="1046673" y="1056411"/>
                </a:lnTo>
                <a:lnTo>
                  <a:pt x="0" y="105641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-930" b="0"/>
            </a:stretch>
          </a:blipFill>
        </p:spPr>
      </p:sp>
      <p:grpSp>
        <p:nvGrpSpPr>
          <p:cNvPr name="Group 110" id="110"/>
          <p:cNvGrpSpPr/>
          <p:nvPr/>
        </p:nvGrpSpPr>
        <p:grpSpPr>
          <a:xfrm rot="0">
            <a:off x="35674714" y="22911286"/>
            <a:ext cx="2604433" cy="2604433"/>
            <a:chOff x="0" y="0"/>
            <a:chExt cx="812800" cy="81280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5CEB3"/>
            </a:solidFill>
          </p:spPr>
        </p:sp>
        <p:sp>
          <p:nvSpPr>
            <p:cNvPr name="TextBox 112" id="11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113" id="113"/>
          <p:cNvSpPr/>
          <p:nvPr/>
        </p:nvSpPr>
        <p:spPr>
          <a:xfrm flipH="false" flipV="false" rot="0">
            <a:off x="35935079" y="23171650"/>
            <a:ext cx="2083705" cy="2083705"/>
          </a:xfrm>
          <a:custGeom>
            <a:avLst/>
            <a:gdLst/>
            <a:ahLst/>
            <a:cxnLst/>
            <a:rect r="r" b="b" t="t" l="l"/>
            <a:pathLst>
              <a:path h="2083705" w="2083705">
                <a:moveTo>
                  <a:pt x="0" y="0"/>
                </a:moveTo>
                <a:lnTo>
                  <a:pt x="2083705" y="0"/>
                </a:lnTo>
                <a:lnTo>
                  <a:pt x="2083705" y="2083705"/>
                </a:lnTo>
                <a:lnTo>
                  <a:pt x="0" y="2083705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grpSp>
        <p:nvGrpSpPr>
          <p:cNvPr name="Group 114" id="114"/>
          <p:cNvGrpSpPr/>
          <p:nvPr/>
        </p:nvGrpSpPr>
        <p:grpSpPr>
          <a:xfrm rot="0">
            <a:off x="24557466" y="6168906"/>
            <a:ext cx="1519964" cy="1519964"/>
            <a:chOff x="0" y="0"/>
            <a:chExt cx="812800" cy="8128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6" id="1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117" id="117"/>
          <p:cNvSpPr/>
          <p:nvPr/>
        </p:nvSpPr>
        <p:spPr>
          <a:xfrm flipH="false" flipV="false" rot="0">
            <a:off x="24638995" y="6651853"/>
            <a:ext cx="1356906" cy="554070"/>
          </a:xfrm>
          <a:custGeom>
            <a:avLst/>
            <a:gdLst/>
            <a:ahLst/>
            <a:cxnLst/>
            <a:rect r="r" b="b" t="t" l="l"/>
            <a:pathLst>
              <a:path h="554070" w="1356906">
                <a:moveTo>
                  <a:pt x="0" y="0"/>
                </a:moveTo>
                <a:lnTo>
                  <a:pt x="1356906" y="0"/>
                </a:lnTo>
                <a:lnTo>
                  <a:pt x="1356906" y="554070"/>
                </a:lnTo>
                <a:lnTo>
                  <a:pt x="0" y="554070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44977455" y="9885500"/>
            <a:ext cx="1092620" cy="1092620"/>
            <a:chOff x="0" y="0"/>
            <a:chExt cx="812800" cy="8128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0" id="1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121" id="121"/>
          <p:cNvSpPr/>
          <p:nvPr/>
        </p:nvSpPr>
        <p:spPr>
          <a:xfrm flipH="false" flipV="false" rot="0">
            <a:off x="45036871" y="10234609"/>
            <a:ext cx="973787" cy="394403"/>
          </a:xfrm>
          <a:custGeom>
            <a:avLst/>
            <a:gdLst/>
            <a:ahLst/>
            <a:cxnLst/>
            <a:rect r="r" b="b" t="t" l="l"/>
            <a:pathLst>
              <a:path h="394403" w="973787">
                <a:moveTo>
                  <a:pt x="0" y="0"/>
                </a:moveTo>
                <a:lnTo>
                  <a:pt x="973787" y="0"/>
                </a:lnTo>
                <a:lnTo>
                  <a:pt x="973787" y="394402"/>
                </a:lnTo>
                <a:lnTo>
                  <a:pt x="0" y="394402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-5241" r="0" b="0"/>
            </a:stretch>
          </a:blipFill>
        </p:spPr>
      </p:sp>
      <p:grpSp>
        <p:nvGrpSpPr>
          <p:cNvPr name="Group 122" id="122"/>
          <p:cNvGrpSpPr/>
          <p:nvPr/>
        </p:nvGrpSpPr>
        <p:grpSpPr>
          <a:xfrm rot="0">
            <a:off x="34549406" y="19435439"/>
            <a:ext cx="1109882" cy="1109882"/>
            <a:chOff x="0" y="0"/>
            <a:chExt cx="812800" cy="8128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4" id="12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125" id="125"/>
          <p:cNvSpPr/>
          <p:nvPr/>
        </p:nvSpPr>
        <p:spPr>
          <a:xfrm flipH="false" flipV="false" rot="0">
            <a:off x="34636259" y="19609473"/>
            <a:ext cx="936175" cy="761813"/>
          </a:xfrm>
          <a:custGeom>
            <a:avLst/>
            <a:gdLst/>
            <a:ahLst/>
            <a:cxnLst/>
            <a:rect r="r" b="b" t="t" l="l"/>
            <a:pathLst>
              <a:path h="761813" w="936175">
                <a:moveTo>
                  <a:pt x="0" y="0"/>
                </a:moveTo>
                <a:lnTo>
                  <a:pt x="936176" y="0"/>
                </a:lnTo>
                <a:lnTo>
                  <a:pt x="936176" y="761813"/>
                </a:lnTo>
                <a:lnTo>
                  <a:pt x="0" y="761813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grpSp>
        <p:nvGrpSpPr>
          <p:cNvPr name="Group 126" id="126"/>
          <p:cNvGrpSpPr/>
          <p:nvPr/>
        </p:nvGrpSpPr>
        <p:grpSpPr>
          <a:xfrm rot="0">
            <a:off x="28571402" y="21671744"/>
            <a:ext cx="2411321" cy="2411321"/>
            <a:chOff x="0" y="0"/>
            <a:chExt cx="812800" cy="81280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014EB"/>
            </a:solidFill>
          </p:spPr>
        </p:sp>
        <p:sp>
          <p:nvSpPr>
            <p:cNvPr name="TextBox 128" id="1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31285887" y="13506158"/>
            <a:ext cx="1095497" cy="1095497"/>
            <a:chOff x="0" y="0"/>
            <a:chExt cx="812800" cy="8128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1" id="1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132" id="132"/>
          <p:cNvSpPr/>
          <p:nvPr/>
        </p:nvSpPr>
        <p:spPr>
          <a:xfrm flipH="false" flipV="false" rot="0">
            <a:off x="31285887" y="13506158"/>
            <a:ext cx="1095497" cy="1095497"/>
          </a:xfrm>
          <a:custGeom>
            <a:avLst/>
            <a:gdLst/>
            <a:ahLst/>
            <a:cxnLst/>
            <a:rect r="r" b="b" t="t" l="l"/>
            <a:pathLst>
              <a:path h="1095497" w="1095497">
                <a:moveTo>
                  <a:pt x="0" y="0"/>
                </a:moveTo>
                <a:lnTo>
                  <a:pt x="1095497" y="0"/>
                </a:lnTo>
                <a:lnTo>
                  <a:pt x="1095497" y="1095497"/>
                </a:lnTo>
                <a:lnTo>
                  <a:pt x="0" y="109549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grpSp>
        <p:nvGrpSpPr>
          <p:cNvPr name="Group 133" id="133"/>
          <p:cNvGrpSpPr/>
          <p:nvPr/>
        </p:nvGrpSpPr>
        <p:grpSpPr>
          <a:xfrm rot="0">
            <a:off x="21421212" y="12735303"/>
            <a:ext cx="760708" cy="760708"/>
            <a:chOff x="0" y="0"/>
            <a:chExt cx="812800" cy="81280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E0100"/>
            </a:solidFill>
          </p:spPr>
        </p:sp>
        <p:sp>
          <p:nvSpPr>
            <p:cNvPr name="TextBox 135" id="13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136" id="136"/>
          <p:cNvSpPr/>
          <p:nvPr/>
        </p:nvSpPr>
        <p:spPr>
          <a:xfrm flipH="false" flipV="false" rot="0">
            <a:off x="21371978" y="12672941"/>
            <a:ext cx="859176" cy="859176"/>
          </a:xfrm>
          <a:custGeom>
            <a:avLst/>
            <a:gdLst/>
            <a:ahLst/>
            <a:cxnLst/>
            <a:rect r="r" b="b" t="t" l="l"/>
            <a:pathLst>
              <a:path h="859176" w="859176">
                <a:moveTo>
                  <a:pt x="0" y="0"/>
                </a:moveTo>
                <a:lnTo>
                  <a:pt x="859176" y="0"/>
                </a:lnTo>
                <a:lnTo>
                  <a:pt x="859176" y="859176"/>
                </a:lnTo>
                <a:lnTo>
                  <a:pt x="0" y="859176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grpSp>
        <p:nvGrpSpPr>
          <p:cNvPr name="Group 137" id="137"/>
          <p:cNvGrpSpPr/>
          <p:nvPr/>
        </p:nvGrpSpPr>
        <p:grpSpPr>
          <a:xfrm rot="0">
            <a:off x="39245691" y="2450540"/>
            <a:ext cx="1086589" cy="1086589"/>
            <a:chOff x="0" y="0"/>
            <a:chExt cx="812800" cy="8128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39" id="1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38912348" y="1650204"/>
            <a:ext cx="767674" cy="767674"/>
            <a:chOff x="0" y="0"/>
            <a:chExt cx="812800" cy="8128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2" id="1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37762931" y="1027633"/>
            <a:ext cx="767674" cy="767674"/>
            <a:chOff x="0" y="0"/>
            <a:chExt cx="812800" cy="81280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5" id="14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36726674" y="947436"/>
            <a:ext cx="767674" cy="767674"/>
            <a:chOff x="0" y="0"/>
            <a:chExt cx="812800" cy="81280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8" id="14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35677719" y="522009"/>
            <a:ext cx="767674" cy="767674"/>
            <a:chOff x="0" y="0"/>
            <a:chExt cx="812800" cy="81280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1" id="15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34779071" y="988582"/>
            <a:ext cx="767674" cy="767674"/>
            <a:chOff x="0" y="0"/>
            <a:chExt cx="812800" cy="81280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4" id="15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33994091" y="366074"/>
            <a:ext cx="767674" cy="767674"/>
            <a:chOff x="0" y="0"/>
            <a:chExt cx="812800" cy="81280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7" id="15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40496353" y="2590308"/>
            <a:ext cx="767674" cy="767674"/>
            <a:chOff x="0" y="0"/>
            <a:chExt cx="812800" cy="812800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0" id="16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41219345" y="3357981"/>
            <a:ext cx="767674" cy="767674"/>
            <a:chOff x="0" y="0"/>
            <a:chExt cx="812800" cy="81280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3" id="16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42514275" y="4249880"/>
            <a:ext cx="767674" cy="767674"/>
            <a:chOff x="0" y="0"/>
            <a:chExt cx="812800" cy="812800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6" id="16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43438035" y="6061652"/>
            <a:ext cx="767674" cy="767674"/>
            <a:chOff x="0" y="0"/>
            <a:chExt cx="812800" cy="81280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9" id="16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44807352" y="7878546"/>
            <a:ext cx="750980" cy="750980"/>
            <a:chOff x="0" y="0"/>
            <a:chExt cx="812800" cy="81280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32BA6"/>
            </a:solidFill>
          </p:spPr>
        </p:sp>
        <p:sp>
          <p:nvSpPr>
            <p:cNvPr name="TextBox 172" id="17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173" id="173"/>
          <p:cNvSpPr/>
          <p:nvPr/>
        </p:nvSpPr>
        <p:spPr>
          <a:xfrm flipH="false" flipV="false" rot="0">
            <a:off x="44799264" y="7861852"/>
            <a:ext cx="767156" cy="767156"/>
          </a:xfrm>
          <a:custGeom>
            <a:avLst/>
            <a:gdLst/>
            <a:ahLst/>
            <a:cxnLst/>
            <a:rect r="r" b="b" t="t" l="l"/>
            <a:pathLst>
              <a:path h="767156" w="767156">
                <a:moveTo>
                  <a:pt x="0" y="0"/>
                </a:moveTo>
                <a:lnTo>
                  <a:pt x="767156" y="0"/>
                </a:lnTo>
                <a:lnTo>
                  <a:pt x="767156" y="767156"/>
                </a:lnTo>
                <a:lnTo>
                  <a:pt x="0" y="76715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grpSp>
        <p:nvGrpSpPr>
          <p:cNvPr name="Group 174" id="174"/>
          <p:cNvGrpSpPr/>
          <p:nvPr/>
        </p:nvGrpSpPr>
        <p:grpSpPr>
          <a:xfrm rot="0">
            <a:off x="45682305" y="8171769"/>
            <a:ext cx="775538" cy="775538"/>
            <a:chOff x="0" y="0"/>
            <a:chExt cx="812800" cy="8128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8C8C8"/>
            </a:solidFill>
          </p:spPr>
        </p:sp>
        <p:sp>
          <p:nvSpPr>
            <p:cNvPr name="TextBox 176" id="17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177" id="177"/>
          <p:cNvSpPr/>
          <p:nvPr/>
        </p:nvSpPr>
        <p:spPr>
          <a:xfrm flipH="false" flipV="false" rot="0">
            <a:off x="45727876" y="8458148"/>
            <a:ext cx="684396" cy="202780"/>
          </a:xfrm>
          <a:custGeom>
            <a:avLst/>
            <a:gdLst/>
            <a:ahLst/>
            <a:cxnLst/>
            <a:rect r="r" b="b" t="t" l="l"/>
            <a:pathLst>
              <a:path h="202780" w="684396">
                <a:moveTo>
                  <a:pt x="0" y="0"/>
                </a:moveTo>
                <a:lnTo>
                  <a:pt x="684396" y="0"/>
                </a:lnTo>
                <a:lnTo>
                  <a:pt x="684396" y="202780"/>
                </a:lnTo>
                <a:lnTo>
                  <a:pt x="0" y="202780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-31299" t="-56311" r="-29694" b="-57695"/>
            </a:stretch>
          </a:blipFill>
        </p:spPr>
      </p:sp>
      <p:grpSp>
        <p:nvGrpSpPr>
          <p:cNvPr name="Group 178" id="178"/>
          <p:cNvGrpSpPr/>
          <p:nvPr/>
        </p:nvGrpSpPr>
        <p:grpSpPr>
          <a:xfrm rot="0">
            <a:off x="45197791" y="8980794"/>
            <a:ext cx="767674" cy="767674"/>
            <a:chOff x="0" y="0"/>
            <a:chExt cx="812800" cy="812800"/>
          </a:xfrm>
        </p:grpSpPr>
        <p:sp>
          <p:nvSpPr>
            <p:cNvPr name="Freeform 179" id="17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0" id="18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46074969" y="10607886"/>
            <a:ext cx="767674" cy="767674"/>
            <a:chOff x="0" y="0"/>
            <a:chExt cx="812800" cy="81280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3" id="18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184" id="184"/>
          <p:cNvGrpSpPr/>
          <p:nvPr/>
        </p:nvGrpSpPr>
        <p:grpSpPr>
          <a:xfrm rot="0">
            <a:off x="45954643" y="12580364"/>
            <a:ext cx="767674" cy="767674"/>
            <a:chOff x="0" y="0"/>
            <a:chExt cx="812800" cy="812800"/>
          </a:xfrm>
        </p:grpSpPr>
        <p:sp>
          <p:nvSpPr>
            <p:cNvPr name="Freeform 185" id="18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86" id="18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187" id="187"/>
          <p:cNvGrpSpPr/>
          <p:nvPr/>
        </p:nvGrpSpPr>
        <p:grpSpPr>
          <a:xfrm rot="0">
            <a:off x="46085791" y="14585678"/>
            <a:ext cx="774159" cy="774159"/>
            <a:chOff x="0" y="0"/>
            <a:chExt cx="812800" cy="812800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62BA"/>
            </a:solidFill>
          </p:spPr>
        </p:sp>
        <p:sp>
          <p:nvSpPr>
            <p:cNvPr name="TextBox 189" id="18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190" id="190"/>
          <p:cNvSpPr/>
          <p:nvPr/>
        </p:nvSpPr>
        <p:spPr>
          <a:xfrm flipH="false" flipV="false" rot="0">
            <a:off x="46135860" y="14836235"/>
            <a:ext cx="674020" cy="273045"/>
          </a:xfrm>
          <a:custGeom>
            <a:avLst/>
            <a:gdLst/>
            <a:ahLst/>
            <a:cxnLst/>
            <a:rect r="r" b="b" t="t" l="l"/>
            <a:pathLst>
              <a:path h="273045" w="674020">
                <a:moveTo>
                  <a:pt x="0" y="0"/>
                </a:moveTo>
                <a:lnTo>
                  <a:pt x="674020" y="0"/>
                </a:lnTo>
                <a:lnTo>
                  <a:pt x="674020" y="273045"/>
                </a:lnTo>
                <a:lnTo>
                  <a:pt x="0" y="273045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grpSp>
        <p:nvGrpSpPr>
          <p:cNvPr name="Group 191" id="191"/>
          <p:cNvGrpSpPr/>
          <p:nvPr/>
        </p:nvGrpSpPr>
        <p:grpSpPr>
          <a:xfrm rot="0">
            <a:off x="35854489" y="21743734"/>
            <a:ext cx="779396" cy="779396"/>
            <a:chOff x="0" y="0"/>
            <a:chExt cx="812800" cy="81280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C9AE3"/>
            </a:solidFill>
          </p:spPr>
        </p:sp>
        <p:sp>
          <p:nvSpPr>
            <p:cNvPr name="TextBox 193" id="19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35819746" y="21977841"/>
            <a:ext cx="848882" cy="311180"/>
          </a:xfrm>
          <a:custGeom>
            <a:avLst/>
            <a:gdLst/>
            <a:ahLst/>
            <a:cxnLst/>
            <a:rect r="r" b="b" t="t" l="l"/>
            <a:pathLst>
              <a:path h="311180" w="848882">
                <a:moveTo>
                  <a:pt x="0" y="0"/>
                </a:moveTo>
                <a:lnTo>
                  <a:pt x="848882" y="0"/>
                </a:lnTo>
                <a:lnTo>
                  <a:pt x="848882" y="311181"/>
                </a:lnTo>
                <a:lnTo>
                  <a:pt x="0" y="311181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35760979" y="25508509"/>
            <a:ext cx="767674" cy="767674"/>
            <a:chOff x="0" y="0"/>
            <a:chExt cx="812800" cy="81280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97" id="19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198" id="198"/>
          <p:cNvGrpSpPr/>
          <p:nvPr/>
        </p:nvGrpSpPr>
        <p:grpSpPr>
          <a:xfrm rot="0">
            <a:off x="37731130" y="8494952"/>
            <a:ext cx="767674" cy="767674"/>
            <a:chOff x="0" y="0"/>
            <a:chExt cx="812800" cy="812800"/>
          </a:xfrm>
        </p:grpSpPr>
        <p:sp>
          <p:nvSpPr>
            <p:cNvPr name="Freeform 199" id="19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0" id="20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01" id="201"/>
          <p:cNvGrpSpPr/>
          <p:nvPr/>
        </p:nvGrpSpPr>
        <p:grpSpPr>
          <a:xfrm rot="0">
            <a:off x="31130650" y="22077753"/>
            <a:ext cx="772369" cy="772369"/>
            <a:chOff x="0" y="0"/>
            <a:chExt cx="812800" cy="812800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36ED8"/>
            </a:solidFill>
          </p:spPr>
        </p:sp>
        <p:sp>
          <p:nvSpPr>
            <p:cNvPr name="TextBox 203" id="20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204" id="204"/>
          <p:cNvSpPr/>
          <p:nvPr/>
        </p:nvSpPr>
        <p:spPr>
          <a:xfrm flipH="false" flipV="false" rot="0">
            <a:off x="31166140" y="22397890"/>
            <a:ext cx="701390" cy="132095"/>
          </a:xfrm>
          <a:custGeom>
            <a:avLst/>
            <a:gdLst/>
            <a:ahLst/>
            <a:cxnLst/>
            <a:rect r="r" b="b" t="t" l="l"/>
            <a:pathLst>
              <a:path h="132095" w="701390">
                <a:moveTo>
                  <a:pt x="0" y="0"/>
                </a:moveTo>
                <a:lnTo>
                  <a:pt x="701390" y="0"/>
                </a:lnTo>
                <a:lnTo>
                  <a:pt x="701390" y="132095"/>
                </a:lnTo>
                <a:lnTo>
                  <a:pt x="0" y="13209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grpSp>
        <p:nvGrpSpPr>
          <p:cNvPr name="Group 205" id="205"/>
          <p:cNvGrpSpPr/>
          <p:nvPr/>
        </p:nvGrpSpPr>
        <p:grpSpPr>
          <a:xfrm rot="0">
            <a:off x="45909258" y="16149814"/>
            <a:ext cx="767674" cy="767674"/>
            <a:chOff x="0" y="0"/>
            <a:chExt cx="812800" cy="812800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7" id="20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08" id="208"/>
          <p:cNvGrpSpPr/>
          <p:nvPr/>
        </p:nvGrpSpPr>
        <p:grpSpPr>
          <a:xfrm rot="0">
            <a:off x="35152087" y="20826602"/>
            <a:ext cx="767674" cy="767674"/>
            <a:chOff x="0" y="0"/>
            <a:chExt cx="812800" cy="812800"/>
          </a:xfrm>
        </p:grpSpPr>
        <p:sp>
          <p:nvSpPr>
            <p:cNvPr name="Freeform 209" id="20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0" id="2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11" id="211"/>
          <p:cNvGrpSpPr/>
          <p:nvPr/>
        </p:nvGrpSpPr>
        <p:grpSpPr>
          <a:xfrm rot="0">
            <a:off x="34525188" y="18058256"/>
            <a:ext cx="1095901" cy="1095901"/>
            <a:chOff x="0" y="0"/>
            <a:chExt cx="812800" cy="812800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3" id="2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14" id="214"/>
          <p:cNvGrpSpPr/>
          <p:nvPr/>
        </p:nvGrpSpPr>
        <p:grpSpPr>
          <a:xfrm rot="0">
            <a:off x="21682932" y="13729014"/>
            <a:ext cx="767674" cy="767674"/>
            <a:chOff x="0" y="0"/>
            <a:chExt cx="812800" cy="812800"/>
          </a:xfrm>
        </p:grpSpPr>
        <p:sp>
          <p:nvSpPr>
            <p:cNvPr name="Freeform 215" id="2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6" id="2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17" id="217"/>
          <p:cNvGrpSpPr/>
          <p:nvPr/>
        </p:nvGrpSpPr>
        <p:grpSpPr>
          <a:xfrm rot="0">
            <a:off x="31938482" y="14742296"/>
            <a:ext cx="767674" cy="767674"/>
            <a:chOff x="0" y="0"/>
            <a:chExt cx="812800" cy="812800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9" id="2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20" id="220"/>
          <p:cNvGrpSpPr/>
          <p:nvPr/>
        </p:nvGrpSpPr>
        <p:grpSpPr>
          <a:xfrm rot="0">
            <a:off x="35387964" y="16151641"/>
            <a:ext cx="767674" cy="767674"/>
            <a:chOff x="0" y="0"/>
            <a:chExt cx="812800" cy="812800"/>
          </a:xfrm>
        </p:grpSpPr>
        <p:sp>
          <p:nvSpPr>
            <p:cNvPr name="Freeform 221" id="2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2" id="2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23" id="223"/>
          <p:cNvGrpSpPr/>
          <p:nvPr/>
        </p:nvGrpSpPr>
        <p:grpSpPr>
          <a:xfrm rot="0">
            <a:off x="41052616" y="9204872"/>
            <a:ext cx="1531063" cy="1531063"/>
            <a:chOff x="0" y="0"/>
            <a:chExt cx="812800" cy="812800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C516D"/>
            </a:solidFill>
          </p:spPr>
        </p:sp>
        <p:sp>
          <p:nvSpPr>
            <p:cNvPr name="TextBox 225" id="2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226" id="226"/>
          <p:cNvSpPr/>
          <p:nvPr/>
        </p:nvSpPr>
        <p:spPr>
          <a:xfrm flipH="false" flipV="false" rot="0">
            <a:off x="40981104" y="9087638"/>
            <a:ext cx="1674087" cy="1674087"/>
          </a:xfrm>
          <a:custGeom>
            <a:avLst/>
            <a:gdLst/>
            <a:ahLst/>
            <a:cxnLst/>
            <a:rect r="r" b="b" t="t" l="l"/>
            <a:pathLst>
              <a:path h="1674087" w="1674087">
                <a:moveTo>
                  <a:pt x="0" y="0"/>
                </a:moveTo>
                <a:lnTo>
                  <a:pt x="1674088" y="0"/>
                </a:lnTo>
                <a:lnTo>
                  <a:pt x="1674088" y="1674087"/>
                </a:lnTo>
                <a:lnTo>
                  <a:pt x="0" y="1674087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grpSp>
        <p:nvGrpSpPr>
          <p:cNvPr name="Group 227" id="227"/>
          <p:cNvGrpSpPr/>
          <p:nvPr/>
        </p:nvGrpSpPr>
        <p:grpSpPr>
          <a:xfrm rot="0">
            <a:off x="29777063" y="7298630"/>
            <a:ext cx="767674" cy="767674"/>
            <a:chOff x="0" y="0"/>
            <a:chExt cx="812800" cy="812800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29" id="2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30" id="230"/>
          <p:cNvGrpSpPr/>
          <p:nvPr/>
        </p:nvGrpSpPr>
        <p:grpSpPr>
          <a:xfrm rot="0">
            <a:off x="34580374" y="24939010"/>
            <a:ext cx="1094341" cy="1094341"/>
            <a:chOff x="0" y="0"/>
            <a:chExt cx="812800" cy="812800"/>
          </a:xfrm>
        </p:grpSpPr>
        <p:sp>
          <p:nvSpPr>
            <p:cNvPr name="Freeform 231" id="2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2" id="2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33" id="233"/>
          <p:cNvGrpSpPr/>
          <p:nvPr/>
        </p:nvGrpSpPr>
        <p:grpSpPr>
          <a:xfrm rot="0">
            <a:off x="33588299" y="24802533"/>
            <a:ext cx="767674" cy="767674"/>
            <a:chOff x="0" y="0"/>
            <a:chExt cx="812800" cy="812800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35" id="2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36" id="236"/>
          <p:cNvGrpSpPr/>
          <p:nvPr/>
        </p:nvGrpSpPr>
        <p:grpSpPr>
          <a:xfrm rot="0">
            <a:off x="32809746" y="25629151"/>
            <a:ext cx="772369" cy="772369"/>
            <a:chOff x="0" y="0"/>
            <a:chExt cx="812800" cy="812800"/>
          </a:xfrm>
        </p:grpSpPr>
        <p:sp>
          <p:nvSpPr>
            <p:cNvPr name="Freeform 237" id="2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60CA"/>
            </a:solidFill>
          </p:spPr>
        </p:sp>
        <p:sp>
          <p:nvSpPr>
            <p:cNvPr name="TextBox 238" id="23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239" id="239"/>
          <p:cNvSpPr/>
          <p:nvPr/>
        </p:nvSpPr>
        <p:spPr>
          <a:xfrm flipH="false" flipV="false" rot="0">
            <a:off x="32865749" y="25893535"/>
            <a:ext cx="660362" cy="243600"/>
          </a:xfrm>
          <a:custGeom>
            <a:avLst/>
            <a:gdLst/>
            <a:ahLst/>
            <a:cxnLst/>
            <a:rect r="r" b="b" t="t" l="l"/>
            <a:pathLst>
              <a:path h="243600" w="660362">
                <a:moveTo>
                  <a:pt x="0" y="0"/>
                </a:moveTo>
                <a:lnTo>
                  <a:pt x="660363" y="0"/>
                </a:lnTo>
                <a:lnTo>
                  <a:pt x="660363" y="243601"/>
                </a:lnTo>
                <a:lnTo>
                  <a:pt x="0" y="243601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grpSp>
        <p:nvGrpSpPr>
          <p:cNvPr name="Group 240" id="240"/>
          <p:cNvGrpSpPr/>
          <p:nvPr/>
        </p:nvGrpSpPr>
        <p:grpSpPr>
          <a:xfrm rot="0">
            <a:off x="32473129" y="24704474"/>
            <a:ext cx="781706" cy="781706"/>
            <a:chOff x="0" y="0"/>
            <a:chExt cx="812800" cy="812800"/>
          </a:xfrm>
        </p:grpSpPr>
        <p:sp>
          <p:nvSpPr>
            <p:cNvPr name="Freeform 241" id="2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52170"/>
            </a:solidFill>
          </p:spPr>
        </p:sp>
        <p:sp>
          <p:nvSpPr>
            <p:cNvPr name="TextBox 242" id="2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243" id="243"/>
          <p:cNvSpPr/>
          <p:nvPr/>
        </p:nvSpPr>
        <p:spPr>
          <a:xfrm flipH="false" flipV="false" rot="0">
            <a:off x="32517748" y="24952733"/>
            <a:ext cx="692467" cy="285188"/>
          </a:xfrm>
          <a:custGeom>
            <a:avLst/>
            <a:gdLst/>
            <a:ahLst/>
            <a:cxnLst/>
            <a:rect r="r" b="b" t="t" l="l"/>
            <a:pathLst>
              <a:path h="285188" w="692467">
                <a:moveTo>
                  <a:pt x="0" y="0"/>
                </a:moveTo>
                <a:lnTo>
                  <a:pt x="692467" y="0"/>
                </a:lnTo>
                <a:lnTo>
                  <a:pt x="692467" y="285188"/>
                </a:lnTo>
                <a:lnTo>
                  <a:pt x="0" y="285188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-51501" t="-79677" r="-47983" b="-74616"/>
            </a:stretch>
          </a:blipFill>
        </p:spPr>
      </p:sp>
      <p:grpSp>
        <p:nvGrpSpPr>
          <p:cNvPr name="Group 244" id="244"/>
          <p:cNvGrpSpPr/>
          <p:nvPr/>
        </p:nvGrpSpPr>
        <p:grpSpPr>
          <a:xfrm rot="0">
            <a:off x="29545111" y="24289608"/>
            <a:ext cx="767674" cy="767674"/>
            <a:chOff x="0" y="0"/>
            <a:chExt cx="812800" cy="812800"/>
          </a:xfrm>
        </p:grpSpPr>
        <p:sp>
          <p:nvSpPr>
            <p:cNvPr name="Freeform 245" id="2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6" id="2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47" id="247"/>
          <p:cNvGrpSpPr/>
          <p:nvPr/>
        </p:nvGrpSpPr>
        <p:grpSpPr>
          <a:xfrm rot="0">
            <a:off x="28636796" y="24053656"/>
            <a:ext cx="767674" cy="767674"/>
            <a:chOff x="0" y="0"/>
            <a:chExt cx="812800" cy="812800"/>
          </a:xfrm>
        </p:grpSpPr>
        <p:sp>
          <p:nvSpPr>
            <p:cNvPr name="Freeform 248" id="2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9" id="2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50" id="250"/>
          <p:cNvGrpSpPr/>
          <p:nvPr/>
        </p:nvGrpSpPr>
        <p:grpSpPr>
          <a:xfrm rot="0">
            <a:off x="31021770" y="986043"/>
            <a:ext cx="767674" cy="767674"/>
            <a:chOff x="0" y="0"/>
            <a:chExt cx="812800" cy="812800"/>
          </a:xfrm>
        </p:grpSpPr>
        <p:sp>
          <p:nvSpPr>
            <p:cNvPr name="Freeform 251" id="2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2" id="2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53" id="253"/>
          <p:cNvGrpSpPr/>
          <p:nvPr/>
        </p:nvGrpSpPr>
        <p:grpSpPr>
          <a:xfrm rot="0">
            <a:off x="29128342" y="1597781"/>
            <a:ext cx="767674" cy="767674"/>
            <a:chOff x="0" y="0"/>
            <a:chExt cx="812800" cy="812800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5" id="2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56" id="256"/>
          <p:cNvGrpSpPr/>
          <p:nvPr/>
        </p:nvGrpSpPr>
        <p:grpSpPr>
          <a:xfrm rot="0">
            <a:off x="26431733" y="3125014"/>
            <a:ext cx="767674" cy="767674"/>
            <a:chOff x="0" y="0"/>
            <a:chExt cx="812800" cy="812800"/>
          </a:xfrm>
        </p:grpSpPr>
        <p:sp>
          <p:nvSpPr>
            <p:cNvPr name="Freeform 257" id="2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58" id="2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59" id="259"/>
          <p:cNvGrpSpPr/>
          <p:nvPr/>
        </p:nvGrpSpPr>
        <p:grpSpPr>
          <a:xfrm rot="0">
            <a:off x="23573027" y="6370504"/>
            <a:ext cx="767674" cy="767674"/>
            <a:chOff x="0" y="0"/>
            <a:chExt cx="812800" cy="812800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1" id="26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62" id="262"/>
          <p:cNvGrpSpPr/>
          <p:nvPr/>
        </p:nvGrpSpPr>
        <p:grpSpPr>
          <a:xfrm rot="0">
            <a:off x="23987518" y="5551269"/>
            <a:ext cx="767674" cy="767674"/>
            <a:chOff x="0" y="0"/>
            <a:chExt cx="812800" cy="812800"/>
          </a:xfrm>
        </p:grpSpPr>
        <p:sp>
          <p:nvSpPr>
            <p:cNvPr name="Freeform 263" id="2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4" id="26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65" id="265"/>
          <p:cNvGrpSpPr/>
          <p:nvPr/>
        </p:nvGrpSpPr>
        <p:grpSpPr>
          <a:xfrm rot="0">
            <a:off x="25128290" y="3839438"/>
            <a:ext cx="767674" cy="767674"/>
            <a:chOff x="0" y="0"/>
            <a:chExt cx="812800" cy="812800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67" id="26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68" id="268"/>
          <p:cNvGrpSpPr/>
          <p:nvPr/>
        </p:nvGrpSpPr>
        <p:grpSpPr>
          <a:xfrm rot="0">
            <a:off x="22474089" y="8475235"/>
            <a:ext cx="767674" cy="767674"/>
            <a:chOff x="0" y="0"/>
            <a:chExt cx="812800" cy="812800"/>
          </a:xfrm>
        </p:grpSpPr>
        <p:sp>
          <p:nvSpPr>
            <p:cNvPr name="Freeform 269" id="2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0" id="27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71" id="271"/>
          <p:cNvGrpSpPr/>
          <p:nvPr/>
        </p:nvGrpSpPr>
        <p:grpSpPr>
          <a:xfrm rot="0">
            <a:off x="21833587" y="9157008"/>
            <a:ext cx="767674" cy="767674"/>
            <a:chOff x="0" y="0"/>
            <a:chExt cx="812800" cy="812800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3" id="27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74" id="274"/>
          <p:cNvGrpSpPr/>
          <p:nvPr/>
        </p:nvGrpSpPr>
        <p:grpSpPr>
          <a:xfrm rot="0">
            <a:off x="21345189" y="10764974"/>
            <a:ext cx="767674" cy="767674"/>
            <a:chOff x="0" y="0"/>
            <a:chExt cx="812800" cy="812800"/>
          </a:xfrm>
        </p:grpSpPr>
        <p:sp>
          <p:nvSpPr>
            <p:cNvPr name="Freeform 275" id="2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6" id="27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77" id="277"/>
          <p:cNvGrpSpPr/>
          <p:nvPr/>
        </p:nvGrpSpPr>
        <p:grpSpPr>
          <a:xfrm rot="0">
            <a:off x="26142032" y="6928888"/>
            <a:ext cx="767674" cy="767674"/>
            <a:chOff x="0" y="0"/>
            <a:chExt cx="812800" cy="812800"/>
          </a:xfrm>
        </p:grpSpPr>
        <p:sp>
          <p:nvSpPr>
            <p:cNvPr name="Freeform 278" id="2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9" id="27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80" id="280"/>
          <p:cNvGrpSpPr/>
          <p:nvPr/>
        </p:nvGrpSpPr>
        <p:grpSpPr>
          <a:xfrm rot="0">
            <a:off x="35707359" y="9072072"/>
            <a:ext cx="767674" cy="767674"/>
            <a:chOff x="0" y="0"/>
            <a:chExt cx="812800" cy="812800"/>
          </a:xfrm>
        </p:grpSpPr>
        <p:sp>
          <p:nvSpPr>
            <p:cNvPr name="Freeform 281" id="28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2" id="28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83" id="283"/>
          <p:cNvGrpSpPr/>
          <p:nvPr/>
        </p:nvGrpSpPr>
        <p:grpSpPr>
          <a:xfrm rot="0">
            <a:off x="31981261" y="20673167"/>
            <a:ext cx="767674" cy="767674"/>
            <a:chOff x="0" y="0"/>
            <a:chExt cx="812800" cy="812800"/>
          </a:xfrm>
        </p:grpSpPr>
        <p:sp>
          <p:nvSpPr>
            <p:cNvPr name="Freeform 284" id="28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5" id="28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86" id="286"/>
          <p:cNvGrpSpPr/>
          <p:nvPr/>
        </p:nvGrpSpPr>
        <p:grpSpPr>
          <a:xfrm rot="0">
            <a:off x="29251707" y="6445488"/>
            <a:ext cx="767674" cy="767674"/>
            <a:chOff x="0" y="0"/>
            <a:chExt cx="812800" cy="812800"/>
          </a:xfrm>
        </p:grpSpPr>
        <p:sp>
          <p:nvSpPr>
            <p:cNvPr name="Freeform 287" id="28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88" id="28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89" id="289"/>
          <p:cNvGrpSpPr/>
          <p:nvPr/>
        </p:nvGrpSpPr>
        <p:grpSpPr>
          <a:xfrm rot="0">
            <a:off x="36794687" y="9014178"/>
            <a:ext cx="767674" cy="767674"/>
            <a:chOff x="0" y="0"/>
            <a:chExt cx="812800" cy="812800"/>
          </a:xfrm>
        </p:grpSpPr>
        <p:sp>
          <p:nvSpPr>
            <p:cNvPr name="Freeform 290" id="29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1" id="29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92" id="292"/>
          <p:cNvGrpSpPr/>
          <p:nvPr/>
        </p:nvGrpSpPr>
        <p:grpSpPr>
          <a:xfrm rot="0">
            <a:off x="25228227" y="21977841"/>
            <a:ext cx="767674" cy="767674"/>
            <a:chOff x="0" y="0"/>
            <a:chExt cx="812800" cy="812800"/>
          </a:xfrm>
        </p:grpSpPr>
        <p:sp>
          <p:nvSpPr>
            <p:cNvPr name="Freeform 293" id="29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4" id="29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95" id="295"/>
          <p:cNvGrpSpPr/>
          <p:nvPr/>
        </p:nvGrpSpPr>
        <p:grpSpPr>
          <a:xfrm rot="0">
            <a:off x="31778622" y="25427236"/>
            <a:ext cx="767674" cy="767674"/>
            <a:chOff x="0" y="0"/>
            <a:chExt cx="812800" cy="812800"/>
          </a:xfrm>
        </p:grpSpPr>
        <p:sp>
          <p:nvSpPr>
            <p:cNvPr name="Freeform 296" id="29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97" id="29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298" id="298"/>
          <p:cNvGrpSpPr/>
          <p:nvPr/>
        </p:nvGrpSpPr>
        <p:grpSpPr>
          <a:xfrm rot="0">
            <a:off x="26655641" y="23383943"/>
            <a:ext cx="767674" cy="767674"/>
            <a:chOff x="0" y="0"/>
            <a:chExt cx="812800" cy="812800"/>
          </a:xfrm>
        </p:grpSpPr>
        <p:sp>
          <p:nvSpPr>
            <p:cNvPr name="Freeform 299" id="29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0" id="30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301" id="301"/>
          <p:cNvGrpSpPr/>
          <p:nvPr/>
        </p:nvGrpSpPr>
        <p:grpSpPr>
          <a:xfrm rot="0">
            <a:off x="27673315" y="23656970"/>
            <a:ext cx="767674" cy="767674"/>
            <a:chOff x="0" y="0"/>
            <a:chExt cx="812800" cy="81280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3" id="30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304" id="304"/>
          <p:cNvGrpSpPr/>
          <p:nvPr/>
        </p:nvGrpSpPr>
        <p:grpSpPr>
          <a:xfrm rot="0">
            <a:off x="42565428" y="5142948"/>
            <a:ext cx="1088989" cy="1088989"/>
            <a:chOff x="0" y="0"/>
            <a:chExt cx="812800" cy="812800"/>
          </a:xfrm>
        </p:grpSpPr>
        <p:sp>
          <p:nvSpPr>
            <p:cNvPr name="Freeform 305" id="30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6" id="30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grpSp>
        <p:nvGrpSpPr>
          <p:cNvPr name="Group 307" id="307"/>
          <p:cNvGrpSpPr/>
          <p:nvPr/>
        </p:nvGrpSpPr>
        <p:grpSpPr>
          <a:xfrm rot="0">
            <a:off x="37213997" y="13602494"/>
            <a:ext cx="1097867" cy="1097867"/>
            <a:chOff x="0" y="0"/>
            <a:chExt cx="812800" cy="812800"/>
          </a:xfrm>
        </p:grpSpPr>
        <p:sp>
          <p:nvSpPr>
            <p:cNvPr name="Freeform 308" id="30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CFF"/>
            </a:solidFill>
          </p:spPr>
        </p:sp>
        <p:sp>
          <p:nvSpPr>
            <p:cNvPr name="TextBox 309" id="30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10" id="310"/>
          <p:cNvSpPr/>
          <p:nvPr/>
        </p:nvSpPr>
        <p:spPr>
          <a:xfrm flipH="false" flipV="false" rot="0">
            <a:off x="37324568" y="13984301"/>
            <a:ext cx="876726" cy="334252"/>
          </a:xfrm>
          <a:custGeom>
            <a:avLst/>
            <a:gdLst/>
            <a:ahLst/>
            <a:cxnLst/>
            <a:rect r="r" b="b" t="t" l="l"/>
            <a:pathLst>
              <a:path h="334252" w="876726">
                <a:moveTo>
                  <a:pt x="0" y="0"/>
                </a:moveTo>
                <a:lnTo>
                  <a:pt x="876726" y="0"/>
                </a:lnTo>
                <a:lnTo>
                  <a:pt x="876726" y="334252"/>
                </a:lnTo>
                <a:lnTo>
                  <a:pt x="0" y="334252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grpSp>
        <p:nvGrpSpPr>
          <p:cNvPr name="Group 311" id="311"/>
          <p:cNvGrpSpPr/>
          <p:nvPr/>
        </p:nvGrpSpPr>
        <p:grpSpPr>
          <a:xfrm rot="0">
            <a:off x="22935541" y="7229066"/>
            <a:ext cx="1330472" cy="1330472"/>
            <a:chOff x="0" y="0"/>
            <a:chExt cx="812800" cy="812800"/>
          </a:xfrm>
        </p:grpSpPr>
        <p:sp>
          <p:nvSpPr>
            <p:cNvPr name="Freeform 312" id="3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D0D0D"/>
            </a:solidFill>
          </p:spPr>
        </p:sp>
        <p:sp>
          <p:nvSpPr>
            <p:cNvPr name="TextBox 313" id="3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14" id="314"/>
          <p:cNvSpPr/>
          <p:nvPr/>
        </p:nvSpPr>
        <p:spPr>
          <a:xfrm flipH="false" flipV="false" rot="0">
            <a:off x="22971352" y="7754255"/>
            <a:ext cx="1258851" cy="280094"/>
          </a:xfrm>
          <a:custGeom>
            <a:avLst/>
            <a:gdLst/>
            <a:ahLst/>
            <a:cxnLst/>
            <a:rect r="r" b="b" t="t" l="l"/>
            <a:pathLst>
              <a:path h="280094" w="1258851">
                <a:moveTo>
                  <a:pt x="0" y="0"/>
                </a:moveTo>
                <a:lnTo>
                  <a:pt x="1258851" y="0"/>
                </a:lnTo>
                <a:lnTo>
                  <a:pt x="1258851" y="280094"/>
                </a:lnTo>
                <a:lnTo>
                  <a:pt x="0" y="280094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0" r="0" b="0"/>
            </a:stretch>
          </a:blipFill>
        </p:spPr>
      </p:sp>
      <p:grpSp>
        <p:nvGrpSpPr>
          <p:cNvPr name="Group 315" id="315"/>
          <p:cNvGrpSpPr/>
          <p:nvPr/>
        </p:nvGrpSpPr>
        <p:grpSpPr>
          <a:xfrm rot="0">
            <a:off x="24677093" y="4713914"/>
            <a:ext cx="1087293" cy="1087293"/>
            <a:chOff x="0" y="0"/>
            <a:chExt cx="812800" cy="812800"/>
          </a:xfrm>
        </p:grpSpPr>
        <p:sp>
          <p:nvSpPr>
            <p:cNvPr name="Freeform 316" id="3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395C"/>
            </a:solidFill>
          </p:spPr>
        </p:sp>
        <p:sp>
          <p:nvSpPr>
            <p:cNvPr name="TextBox 317" id="3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sp>
        <p:nvSpPr>
          <p:cNvPr name="Freeform 318" id="318"/>
          <p:cNvSpPr/>
          <p:nvPr/>
        </p:nvSpPr>
        <p:spPr>
          <a:xfrm flipH="false" flipV="false" rot="0">
            <a:off x="24743633" y="5127743"/>
            <a:ext cx="954213" cy="259635"/>
          </a:xfrm>
          <a:custGeom>
            <a:avLst/>
            <a:gdLst/>
            <a:ahLst/>
            <a:cxnLst/>
            <a:rect r="r" b="b" t="t" l="l"/>
            <a:pathLst>
              <a:path h="259635" w="954213">
                <a:moveTo>
                  <a:pt x="0" y="0"/>
                </a:moveTo>
                <a:lnTo>
                  <a:pt x="954213" y="0"/>
                </a:lnTo>
                <a:lnTo>
                  <a:pt x="954213" y="259635"/>
                </a:lnTo>
                <a:lnTo>
                  <a:pt x="0" y="259635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0" t="0" r="0" b="0"/>
            </a:stretch>
          </a:blipFill>
        </p:spPr>
      </p:sp>
      <p:grpSp>
        <p:nvGrpSpPr>
          <p:cNvPr name="Group 319" id="319"/>
          <p:cNvGrpSpPr/>
          <p:nvPr/>
        </p:nvGrpSpPr>
        <p:grpSpPr>
          <a:xfrm rot="0">
            <a:off x="27207195" y="2051547"/>
            <a:ext cx="1073468" cy="1073468"/>
            <a:chOff x="0" y="0"/>
            <a:chExt cx="812800" cy="812800"/>
          </a:xfrm>
        </p:grpSpPr>
        <p:sp>
          <p:nvSpPr>
            <p:cNvPr name="Freeform 320" id="3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9033D"/>
            </a:solidFill>
          </p:spPr>
        </p:sp>
        <p:sp>
          <p:nvSpPr>
            <p:cNvPr name="TextBox 321" id="32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22" id="322"/>
          <p:cNvSpPr/>
          <p:nvPr/>
        </p:nvSpPr>
        <p:spPr>
          <a:xfrm flipH="false" flipV="false" rot="0">
            <a:off x="27199406" y="2373162"/>
            <a:ext cx="1030960" cy="434292"/>
          </a:xfrm>
          <a:custGeom>
            <a:avLst/>
            <a:gdLst/>
            <a:ahLst/>
            <a:cxnLst/>
            <a:rect r="r" b="b" t="t" l="l"/>
            <a:pathLst>
              <a:path h="434292" w="1030960">
                <a:moveTo>
                  <a:pt x="0" y="0"/>
                </a:moveTo>
                <a:lnTo>
                  <a:pt x="1030960" y="0"/>
                </a:lnTo>
                <a:lnTo>
                  <a:pt x="1030960" y="434292"/>
                </a:lnTo>
                <a:lnTo>
                  <a:pt x="0" y="434292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grpSp>
        <p:nvGrpSpPr>
          <p:cNvPr name="Group 323" id="323"/>
          <p:cNvGrpSpPr/>
          <p:nvPr/>
        </p:nvGrpSpPr>
        <p:grpSpPr>
          <a:xfrm rot="0">
            <a:off x="39708764" y="3624472"/>
            <a:ext cx="1325120" cy="1325120"/>
            <a:chOff x="0" y="0"/>
            <a:chExt cx="812800" cy="812800"/>
          </a:xfrm>
        </p:grpSpPr>
        <p:sp>
          <p:nvSpPr>
            <p:cNvPr name="Freeform 324" id="3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60C2E"/>
            </a:solidFill>
          </p:spPr>
        </p:sp>
        <p:sp>
          <p:nvSpPr>
            <p:cNvPr name="TextBox 325" id="3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26" id="326"/>
          <p:cNvSpPr/>
          <p:nvPr/>
        </p:nvSpPr>
        <p:spPr>
          <a:xfrm flipH="false" flipV="false" rot="0">
            <a:off x="39785042" y="4207151"/>
            <a:ext cx="1172565" cy="159762"/>
          </a:xfrm>
          <a:custGeom>
            <a:avLst/>
            <a:gdLst/>
            <a:ahLst/>
            <a:cxnLst/>
            <a:rect r="r" b="b" t="t" l="l"/>
            <a:pathLst>
              <a:path h="159762" w="1172565">
                <a:moveTo>
                  <a:pt x="0" y="0"/>
                </a:moveTo>
                <a:lnTo>
                  <a:pt x="1172565" y="0"/>
                </a:lnTo>
                <a:lnTo>
                  <a:pt x="1172565" y="159762"/>
                </a:lnTo>
                <a:lnTo>
                  <a:pt x="0" y="159762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0" t="0" r="0" b="0"/>
            </a:stretch>
          </a:blipFill>
        </p:spPr>
      </p:sp>
      <p:grpSp>
        <p:nvGrpSpPr>
          <p:cNvPr name="Group 327" id="327"/>
          <p:cNvGrpSpPr/>
          <p:nvPr/>
        </p:nvGrpSpPr>
        <p:grpSpPr>
          <a:xfrm rot="0">
            <a:off x="39672307" y="5519352"/>
            <a:ext cx="1325120" cy="1325120"/>
            <a:chOff x="0" y="0"/>
            <a:chExt cx="812800" cy="812800"/>
          </a:xfrm>
        </p:grpSpPr>
        <p:sp>
          <p:nvSpPr>
            <p:cNvPr name="Freeform 328" id="3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50E0"/>
            </a:solidFill>
          </p:spPr>
        </p:sp>
        <p:sp>
          <p:nvSpPr>
            <p:cNvPr name="TextBox 329" id="3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30" id="330"/>
          <p:cNvSpPr/>
          <p:nvPr/>
        </p:nvSpPr>
        <p:spPr>
          <a:xfrm flipH="false" flipV="false" rot="0">
            <a:off x="39583095" y="5587784"/>
            <a:ext cx="1576460" cy="1188256"/>
          </a:xfrm>
          <a:custGeom>
            <a:avLst/>
            <a:gdLst/>
            <a:ahLst/>
            <a:cxnLst/>
            <a:rect r="r" b="b" t="t" l="l"/>
            <a:pathLst>
              <a:path h="1188256" w="1576460">
                <a:moveTo>
                  <a:pt x="0" y="0"/>
                </a:moveTo>
                <a:lnTo>
                  <a:pt x="1576459" y="0"/>
                </a:lnTo>
                <a:lnTo>
                  <a:pt x="1576459" y="1188257"/>
                </a:lnTo>
                <a:lnTo>
                  <a:pt x="0" y="1188257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grpSp>
        <p:nvGrpSpPr>
          <p:cNvPr name="Group 331" id="331"/>
          <p:cNvGrpSpPr/>
          <p:nvPr/>
        </p:nvGrpSpPr>
        <p:grpSpPr>
          <a:xfrm rot="0">
            <a:off x="43821872" y="6928888"/>
            <a:ext cx="1086589" cy="1086589"/>
            <a:chOff x="0" y="0"/>
            <a:chExt cx="812800" cy="812800"/>
          </a:xfrm>
        </p:grpSpPr>
        <p:sp>
          <p:nvSpPr>
            <p:cNvPr name="Freeform 332" id="3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3" id="3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34" id="334"/>
          <p:cNvSpPr/>
          <p:nvPr/>
        </p:nvSpPr>
        <p:spPr>
          <a:xfrm flipH="false" flipV="false" rot="0">
            <a:off x="43850675" y="7124819"/>
            <a:ext cx="1028983" cy="694727"/>
          </a:xfrm>
          <a:custGeom>
            <a:avLst/>
            <a:gdLst/>
            <a:ahLst/>
            <a:cxnLst/>
            <a:rect r="r" b="b" t="t" l="l"/>
            <a:pathLst>
              <a:path h="694727" w="1028983">
                <a:moveTo>
                  <a:pt x="0" y="0"/>
                </a:moveTo>
                <a:lnTo>
                  <a:pt x="1028983" y="0"/>
                </a:lnTo>
                <a:lnTo>
                  <a:pt x="1028983" y="694727"/>
                </a:lnTo>
                <a:lnTo>
                  <a:pt x="0" y="694727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 l="0" t="0" r="0" b="0"/>
            </a:stretch>
          </a:blipFill>
        </p:spPr>
      </p:sp>
      <p:grpSp>
        <p:nvGrpSpPr>
          <p:cNvPr name="Group 335" id="335"/>
          <p:cNvGrpSpPr/>
          <p:nvPr/>
        </p:nvGrpSpPr>
        <p:grpSpPr>
          <a:xfrm rot="0">
            <a:off x="32491544" y="10978120"/>
            <a:ext cx="1097867" cy="1097867"/>
            <a:chOff x="0" y="0"/>
            <a:chExt cx="812800" cy="812800"/>
          </a:xfrm>
        </p:grpSpPr>
        <p:sp>
          <p:nvSpPr>
            <p:cNvPr name="Freeform 336" id="3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8AFF"/>
            </a:solidFill>
          </p:spPr>
        </p:sp>
        <p:sp>
          <p:nvSpPr>
            <p:cNvPr name="TextBox 337" id="33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38" id="338"/>
          <p:cNvSpPr/>
          <p:nvPr/>
        </p:nvSpPr>
        <p:spPr>
          <a:xfrm flipH="false" flipV="false" rot="0">
            <a:off x="32557777" y="11074254"/>
            <a:ext cx="965401" cy="905598"/>
          </a:xfrm>
          <a:custGeom>
            <a:avLst/>
            <a:gdLst/>
            <a:ahLst/>
            <a:cxnLst/>
            <a:rect r="r" b="b" t="t" l="l"/>
            <a:pathLst>
              <a:path h="905598" w="965401">
                <a:moveTo>
                  <a:pt x="0" y="0"/>
                </a:moveTo>
                <a:lnTo>
                  <a:pt x="965401" y="0"/>
                </a:lnTo>
                <a:lnTo>
                  <a:pt x="965401" y="905598"/>
                </a:lnTo>
                <a:lnTo>
                  <a:pt x="0" y="905598"/>
                </a:lnTo>
                <a:lnTo>
                  <a:pt x="0" y="0"/>
                </a:lnTo>
                <a:close/>
              </a:path>
            </a:pathLst>
          </a:custGeom>
          <a:blipFill>
            <a:blip r:embed="rId48"/>
            <a:stretch>
              <a:fillRect l="0" t="0" r="0" b="0"/>
            </a:stretch>
          </a:blipFill>
        </p:spPr>
      </p:sp>
      <p:grpSp>
        <p:nvGrpSpPr>
          <p:cNvPr name="Group 339" id="339"/>
          <p:cNvGrpSpPr/>
          <p:nvPr/>
        </p:nvGrpSpPr>
        <p:grpSpPr>
          <a:xfrm rot="0">
            <a:off x="30854146" y="11454622"/>
            <a:ext cx="1679027" cy="1679027"/>
            <a:chOff x="0" y="0"/>
            <a:chExt cx="812800" cy="812800"/>
          </a:xfrm>
        </p:grpSpPr>
        <p:sp>
          <p:nvSpPr>
            <p:cNvPr name="Freeform 340" id="3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3204E"/>
            </a:solidFill>
          </p:spPr>
        </p:sp>
        <p:sp>
          <p:nvSpPr>
            <p:cNvPr name="TextBox 341" id="34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42" id="342"/>
          <p:cNvSpPr/>
          <p:nvPr/>
        </p:nvSpPr>
        <p:spPr>
          <a:xfrm flipH="false" flipV="false" rot="0">
            <a:off x="30686186" y="11286662"/>
            <a:ext cx="2014948" cy="2014948"/>
          </a:xfrm>
          <a:custGeom>
            <a:avLst/>
            <a:gdLst/>
            <a:ahLst/>
            <a:cxnLst/>
            <a:rect r="r" b="b" t="t" l="l"/>
            <a:pathLst>
              <a:path h="2014948" w="2014948">
                <a:moveTo>
                  <a:pt x="0" y="0"/>
                </a:moveTo>
                <a:lnTo>
                  <a:pt x="2014947" y="0"/>
                </a:lnTo>
                <a:lnTo>
                  <a:pt x="2014947" y="2014947"/>
                </a:lnTo>
                <a:lnTo>
                  <a:pt x="0" y="2014947"/>
                </a:lnTo>
                <a:lnTo>
                  <a:pt x="0" y="0"/>
                </a:lnTo>
                <a:close/>
              </a:path>
            </a:pathLst>
          </a:custGeom>
          <a:blipFill>
            <a:blip r:embed="rId49"/>
            <a:stretch>
              <a:fillRect l="0" t="0" r="0" b="0"/>
            </a:stretch>
          </a:blipFill>
        </p:spPr>
      </p:sp>
      <p:grpSp>
        <p:nvGrpSpPr>
          <p:cNvPr name="Group 343" id="343"/>
          <p:cNvGrpSpPr/>
          <p:nvPr/>
        </p:nvGrpSpPr>
        <p:grpSpPr>
          <a:xfrm rot="0">
            <a:off x="45403713" y="11403687"/>
            <a:ext cx="1069157" cy="1069157"/>
            <a:chOff x="0" y="0"/>
            <a:chExt cx="812800" cy="812800"/>
          </a:xfrm>
        </p:grpSpPr>
        <p:sp>
          <p:nvSpPr>
            <p:cNvPr name="Freeform 344" id="34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01A26"/>
            </a:solidFill>
          </p:spPr>
        </p:sp>
        <p:sp>
          <p:nvSpPr>
            <p:cNvPr name="TextBox 345" id="34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46" id="346"/>
          <p:cNvSpPr/>
          <p:nvPr/>
        </p:nvSpPr>
        <p:spPr>
          <a:xfrm flipH="false" flipV="false" rot="0">
            <a:off x="45474105" y="11867945"/>
            <a:ext cx="928373" cy="140641"/>
          </a:xfrm>
          <a:custGeom>
            <a:avLst/>
            <a:gdLst/>
            <a:ahLst/>
            <a:cxnLst/>
            <a:rect r="r" b="b" t="t" l="l"/>
            <a:pathLst>
              <a:path h="140641" w="928373">
                <a:moveTo>
                  <a:pt x="0" y="0"/>
                </a:moveTo>
                <a:lnTo>
                  <a:pt x="928373" y="0"/>
                </a:lnTo>
                <a:lnTo>
                  <a:pt x="928373" y="140641"/>
                </a:lnTo>
                <a:lnTo>
                  <a:pt x="0" y="140641"/>
                </a:lnTo>
                <a:lnTo>
                  <a:pt x="0" y="0"/>
                </a:lnTo>
                <a:close/>
              </a:path>
            </a:pathLst>
          </a:custGeom>
          <a:blipFill>
            <a:blip r:embed="rId50"/>
            <a:stretch>
              <a:fillRect l="-23401" t="-405980" r="-22975" b="-460258"/>
            </a:stretch>
          </a:blipFill>
        </p:spPr>
      </p:sp>
      <p:grpSp>
        <p:nvGrpSpPr>
          <p:cNvPr name="Group 347" id="347"/>
          <p:cNvGrpSpPr/>
          <p:nvPr/>
        </p:nvGrpSpPr>
        <p:grpSpPr>
          <a:xfrm rot="0">
            <a:off x="23074211" y="11339295"/>
            <a:ext cx="1338582" cy="1338582"/>
            <a:chOff x="0" y="0"/>
            <a:chExt cx="812800" cy="812800"/>
          </a:xfrm>
        </p:grpSpPr>
        <p:sp>
          <p:nvSpPr>
            <p:cNvPr name="Freeform 348" id="3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C2690"/>
            </a:solidFill>
          </p:spPr>
        </p:sp>
        <p:sp>
          <p:nvSpPr>
            <p:cNvPr name="TextBox 349" id="34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50" id="350"/>
          <p:cNvSpPr/>
          <p:nvPr/>
        </p:nvSpPr>
        <p:spPr>
          <a:xfrm flipH="false" flipV="false" rot="0">
            <a:off x="23136712" y="11902668"/>
            <a:ext cx="1213580" cy="211836"/>
          </a:xfrm>
          <a:custGeom>
            <a:avLst/>
            <a:gdLst/>
            <a:ahLst/>
            <a:cxnLst/>
            <a:rect r="r" b="b" t="t" l="l"/>
            <a:pathLst>
              <a:path h="211836" w="1213580">
                <a:moveTo>
                  <a:pt x="0" y="0"/>
                </a:moveTo>
                <a:lnTo>
                  <a:pt x="1213580" y="0"/>
                </a:lnTo>
                <a:lnTo>
                  <a:pt x="1213580" y="211836"/>
                </a:lnTo>
                <a:lnTo>
                  <a:pt x="0" y="211836"/>
                </a:lnTo>
                <a:lnTo>
                  <a:pt x="0" y="0"/>
                </a:lnTo>
                <a:close/>
              </a:path>
            </a:pathLst>
          </a:custGeom>
          <a:blipFill>
            <a:blip r:embed="rId51"/>
            <a:stretch>
              <a:fillRect l="-36685" t="-382748" r="-37010" b="-263995"/>
            </a:stretch>
          </a:blipFill>
        </p:spPr>
      </p:sp>
      <p:grpSp>
        <p:nvGrpSpPr>
          <p:cNvPr name="Group 351" id="351"/>
          <p:cNvGrpSpPr/>
          <p:nvPr/>
        </p:nvGrpSpPr>
        <p:grpSpPr>
          <a:xfrm rot="0">
            <a:off x="31361989" y="8705773"/>
            <a:ext cx="1074271" cy="1074271"/>
            <a:chOff x="0" y="0"/>
            <a:chExt cx="812800" cy="812800"/>
          </a:xfrm>
        </p:grpSpPr>
        <p:sp>
          <p:nvSpPr>
            <p:cNvPr name="Freeform 352" id="3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53" id="35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sp>
        <p:nvSpPr>
          <p:cNvPr name="Freeform 354" id="354"/>
          <p:cNvSpPr/>
          <p:nvPr/>
        </p:nvSpPr>
        <p:spPr>
          <a:xfrm flipH="false" flipV="false" rot="0">
            <a:off x="31461933" y="9105740"/>
            <a:ext cx="874384" cy="274338"/>
          </a:xfrm>
          <a:custGeom>
            <a:avLst/>
            <a:gdLst/>
            <a:ahLst/>
            <a:cxnLst/>
            <a:rect r="r" b="b" t="t" l="l"/>
            <a:pathLst>
              <a:path h="274338" w="874384">
                <a:moveTo>
                  <a:pt x="0" y="0"/>
                </a:moveTo>
                <a:lnTo>
                  <a:pt x="874384" y="0"/>
                </a:lnTo>
                <a:lnTo>
                  <a:pt x="874384" y="274338"/>
                </a:lnTo>
                <a:lnTo>
                  <a:pt x="0" y="274338"/>
                </a:lnTo>
                <a:lnTo>
                  <a:pt x="0" y="0"/>
                </a:lnTo>
                <a:close/>
              </a:path>
            </a:pathLst>
          </a:custGeom>
          <a:blipFill>
            <a:blip r:embed="rId52"/>
            <a:stretch>
              <a:fillRect l="0" t="0" r="0" b="0"/>
            </a:stretch>
          </a:blipFill>
        </p:spPr>
      </p:sp>
      <p:grpSp>
        <p:nvGrpSpPr>
          <p:cNvPr name="Group 355" id="355"/>
          <p:cNvGrpSpPr/>
          <p:nvPr/>
        </p:nvGrpSpPr>
        <p:grpSpPr>
          <a:xfrm rot="0">
            <a:off x="32617649" y="8397213"/>
            <a:ext cx="2708973" cy="2708973"/>
            <a:chOff x="0" y="0"/>
            <a:chExt cx="812800" cy="812800"/>
          </a:xfrm>
        </p:grpSpPr>
        <p:sp>
          <p:nvSpPr>
            <p:cNvPr name="Freeform 356" id="3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57" id="35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grpSp>
        <p:nvGrpSpPr>
          <p:cNvPr name="Group 358" id="358"/>
          <p:cNvGrpSpPr/>
          <p:nvPr/>
        </p:nvGrpSpPr>
        <p:grpSpPr>
          <a:xfrm rot="0">
            <a:off x="22116067" y="9917382"/>
            <a:ext cx="1512357" cy="1512357"/>
            <a:chOff x="0" y="0"/>
            <a:chExt cx="812800" cy="812800"/>
          </a:xfrm>
        </p:grpSpPr>
        <p:sp>
          <p:nvSpPr>
            <p:cNvPr name="Freeform 359" id="3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60" id="36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61" id="361"/>
          <p:cNvSpPr/>
          <p:nvPr/>
        </p:nvSpPr>
        <p:spPr>
          <a:xfrm flipH="false" flipV="false" rot="0">
            <a:off x="22234513" y="10509449"/>
            <a:ext cx="1275464" cy="328223"/>
          </a:xfrm>
          <a:custGeom>
            <a:avLst/>
            <a:gdLst/>
            <a:ahLst/>
            <a:cxnLst/>
            <a:rect r="r" b="b" t="t" l="l"/>
            <a:pathLst>
              <a:path h="328223" w="1275464">
                <a:moveTo>
                  <a:pt x="0" y="0"/>
                </a:moveTo>
                <a:lnTo>
                  <a:pt x="1275464" y="0"/>
                </a:lnTo>
                <a:lnTo>
                  <a:pt x="1275464" y="328223"/>
                </a:lnTo>
                <a:lnTo>
                  <a:pt x="0" y="328223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 l="0" t="0" r="0" b="0"/>
            </a:stretch>
          </a:blipFill>
        </p:spPr>
      </p:sp>
      <p:grpSp>
        <p:nvGrpSpPr>
          <p:cNvPr name="Group 362" id="362"/>
          <p:cNvGrpSpPr/>
          <p:nvPr/>
        </p:nvGrpSpPr>
        <p:grpSpPr>
          <a:xfrm rot="0">
            <a:off x="32320155" y="15596289"/>
            <a:ext cx="1087654" cy="1087654"/>
            <a:chOff x="0" y="0"/>
            <a:chExt cx="812800" cy="812800"/>
          </a:xfrm>
        </p:grpSpPr>
        <p:sp>
          <p:nvSpPr>
            <p:cNvPr name="Freeform 363" id="3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BC0C6"/>
            </a:solidFill>
          </p:spPr>
        </p:sp>
        <p:sp>
          <p:nvSpPr>
            <p:cNvPr name="TextBox 364" id="36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65" id="365"/>
          <p:cNvSpPr/>
          <p:nvPr/>
        </p:nvSpPr>
        <p:spPr>
          <a:xfrm flipH="false" flipV="false" rot="0">
            <a:off x="32381384" y="16039374"/>
            <a:ext cx="965195" cy="201484"/>
          </a:xfrm>
          <a:custGeom>
            <a:avLst/>
            <a:gdLst/>
            <a:ahLst/>
            <a:cxnLst/>
            <a:rect r="r" b="b" t="t" l="l"/>
            <a:pathLst>
              <a:path h="201484" w="965195">
                <a:moveTo>
                  <a:pt x="0" y="0"/>
                </a:moveTo>
                <a:lnTo>
                  <a:pt x="965195" y="0"/>
                </a:lnTo>
                <a:lnTo>
                  <a:pt x="965195" y="201485"/>
                </a:lnTo>
                <a:lnTo>
                  <a:pt x="0" y="201485"/>
                </a:lnTo>
                <a:lnTo>
                  <a:pt x="0" y="0"/>
                </a:lnTo>
                <a:close/>
              </a:path>
            </a:pathLst>
          </a:custGeom>
          <a:blipFill>
            <a:blip r:embed="rId54"/>
            <a:stretch>
              <a:fillRect l="0" t="0" r="0" b="0"/>
            </a:stretch>
          </a:blipFill>
        </p:spPr>
      </p:sp>
      <p:grpSp>
        <p:nvGrpSpPr>
          <p:cNvPr name="Group 366" id="366"/>
          <p:cNvGrpSpPr/>
          <p:nvPr/>
        </p:nvGrpSpPr>
        <p:grpSpPr>
          <a:xfrm rot="0">
            <a:off x="29635544" y="8206945"/>
            <a:ext cx="1524495" cy="1524495"/>
            <a:chOff x="0" y="0"/>
            <a:chExt cx="812800" cy="812800"/>
          </a:xfrm>
        </p:grpSpPr>
        <p:sp>
          <p:nvSpPr>
            <p:cNvPr name="Freeform 367" id="36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42B2E"/>
            </a:solidFill>
          </p:spPr>
        </p:sp>
        <p:sp>
          <p:nvSpPr>
            <p:cNvPr name="TextBox 368" id="36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69" id="369"/>
          <p:cNvSpPr/>
          <p:nvPr/>
        </p:nvSpPr>
        <p:spPr>
          <a:xfrm flipH="false" flipV="false" rot="0">
            <a:off x="29729539" y="8816734"/>
            <a:ext cx="1336505" cy="304917"/>
          </a:xfrm>
          <a:custGeom>
            <a:avLst/>
            <a:gdLst/>
            <a:ahLst/>
            <a:cxnLst/>
            <a:rect r="r" b="b" t="t" l="l"/>
            <a:pathLst>
              <a:path h="304917" w="1336505">
                <a:moveTo>
                  <a:pt x="0" y="0"/>
                </a:moveTo>
                <a:lnTo>
                  <a:pt x="1336505" y="0"/>
                </a:lnTo>
                <a:lnTo>
                  <a:pt x="1336505" y="304916"/>
                </a:lnTo>
                <a:lnTo>
                  <a:pt x="0" y="304916"/>
                </a:lnTo>
                <a:lnTo>
                  <a:pt x="0" y="0"/>
                </a:lnTo>
                <a:close/>
              </a:path>
            </a:pathLst>
          </a:custGeom>
          <a:blipFill>
            <a:blip r:embed="rId55"/>
            <a:stretch>
              <a:fillRect l="0" t="0" r="0" b="0"/>
            </a:stretch>
          </a:blipFill>
        </p:spPr>
      </p:sp>
      <p:grpSp>
        <p:nvGrpSpPr>
          <p:cNvPr name="Group 370" id="370"/>
          <p:cNvGrpSpPr/>
          <p:nvPr/>
        </p:nvGrpSpPr>
        <p:grpSpPr>
          <a:xfrm rot="0">
            <a:off x="33473388" y="16194837"/>
            <a:ext cx="1880601" cy="1880601"/>
            <a:chOff x="0" y="0"/>
            <a:chExt cx="812800" cy="812800"/>
          </a:xfrm>
        </p:grpSpPr>
        <p:sp>
          <p:nvSpPr>
            <p:cNvPr name="Freeform 371" id="3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3EF3"/>
            </a:solidFill>
          </p:spPr>
        </p:sp>
        <p:sp>
          <p:nvSpPr>
            <p:cNvPr name="TextBox 372" id="37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73" id="373"/>
          <p:cNvSpPr/>
          <p:nvPr/>
        </p:nvSpPr>
        <p:spPr>
          <a:xfrm flipH="false" flipV="false" rot="0">
            <a:off x="33591505" y="16919314"/>
            <a:ext cx="1644367" cy="431646"/>
          </a:xfrm>
          <a:custGeom>
            <a:avLst/>
            <a:gdLst/>
            <a:ahLst/>
            <a:cxnLst/>
            <a:rect r="r" b="b" t="t" l="l"/>
            <a:pathLst>
              <a:path h="431646" w="1644367">
                <a:moveTo>
                  <a:pt x="0" y="0"/>
                </a:moveTo>
                <a:lnTo>
                  <a:pt x="1644367" y="0"/>
                </a:lnTo>
                <a:lnTo>
                  <a:pt x="1644367" y="431647"/>
                </a:lnTo>
                <a:lnTo>
                  <a:pt x="0" y="431647"/>
                </a:lnTo>
                <a:lnTo>
                  <a:pt x="0" y="0"/>
                </a:lnTo>
                <a:close/>
              </a:path>
            </a:pathLst>
          </a:custGeom>
          <a:blipFill>
            <a:blip r:embed="rId56"/>
            <a:stretch>
              <a:fillRect l="0" t="0" r="0" b="0"/>
            </a:stretch>
          </a:blipFill>
        </p:spPr>
      </p:sp>
      <p:grpSp>
        <p:nvGrpSpPr>
          <p:cNvPr name="Group 374" id="374"/>
          <p:cNvGrpSpPr/>
          <p:nvPr/>
        </p:nvGrpSpPr>
        <p:grpSpPr>
          <a:xfrm rot="0">
            <a:off x="32265075" y="16812109"/>
            <a:ext cx="1095901" cy="1095901"/>
            <a:chOff x="0" y="0"/>
            <a:chExt cx="812800" cy="812800"/>
          </a:xfrm>
        </p:grpSpPr>
        <p:sp>
          <p:nvSpPr>
            <p:cNvPr name="Freeform 375" id="37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76" id="37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90"/>
                </a:lnSpc>
              </a:pPr>
            </a:p>
          </p:txBody>
        </p:sp>
      </p:grpSp>
      <p:grpSp>
        <p:nvGrpSpPr>
          <p:cNvPr name="Group 377" id="377"/>
          <p:cNvGrpSpPr/>
          <p:nvPr/>
        </p:nvGrpSpPr>
        <p:grpSpPr>
          <a:xfrm rot="0">
            <a:off x="35206711" y="10012684"/>
            <a:ext cx="1519964" cy="1519964"/>
            <a:chOff x="0" y="0"/>
            <a:chExt cx="812800" cy="812800"/>
          </a:xfrm>
        </p:grpSpPr>
        <p:sp>
          <p:nvSpPr>
            <p:cNvPr name="Freeform 378" id="37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E3E3E"/>
            </a:solidFill>
          </p:spPr>
        </p:sp>
        <p:sp>
          <p:nvSpPr>
            <p:cNvPr name="TextBox 379" id="37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80" id="380"/>
          <p:cNvSpPr/>
          <p:nvPr/>
        </p:nvSpPr>
        <p:spPr>
          <a:xfrm flipH="false" flipV="false" rot="0">
            <a:off x="35104347" y="10341493"/>
            <a:ext cx="1724691" cy="862345"/>
          </a:xfrm>
          <a:custGeom>
            <a:avLst/>
            <a:gdLst/>
            <a:ahLst/>
            <a:cxnLst/>
            <a:rect r="r" b="b" t="t" l="l"/>
            <a:pathLst>
              <a:path h="862345" w="1724691">
                <a:moveTo>
                  <a:pt x="0" y="0"/>
                </a:moveTo>
                <a:lnTo>
                  <a:pt x="1724691" y="0"/>
                </a:lnTo>
                <a:lnTo>
                  <a:pt x="1724691" y="862346"/>
                </a:lnTo>
                <a:lnTo>
                  <a:pt x="0" y="862346"/>
                </a:lnTo>
                <a:lnTo>
                  <a:pt x="0" y="0"/>
                </a:lnTo>
                <a:close/>
              </a:path>
            </a:pathLst>
          </a:custGeom>
          <a:blipFill>
            <a:blip r:embed="rId57"/>
            <a:stretch>
              <a:fillRect l="0" t="0" r="0" b="0"/>
            </a:stretch>
          </a:blipFill>
        </p:spPr>
      </p:sp>
      <p:grpSp>
        <p:nvGrpSpPr>
          <p:cNvPr name="Group 381" id="381"/>
          <p:cNvGrpSpPr/>
          <p:nvPr/>
        </p:nvGrpSpPr>
        <p:grpSpPr>
          <a:xfrm rot="0">
            <a:off x="45497293" y="13460551"/>
            <a:ext cx="1075955" cy="1075955"/>
            <a:chOff x="0" y="0"/>
            <a:chExt cx="812800" cy="812800"/>
          </a:xfrm>
        </p:grpSpPr>
        <p:sp>
          <p:nvSpPr>
            <p:cNvPr name="Freeform 382" id="38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798A4"/>
            </a:solidFill>
          </p:spPr>
        </p:sp>
        <p:sp>
          <p:nvSpPr>
            <p:cNvPr name="TextBox 383" id="38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84" id="384"/>
          <p:cNvSpPr/>
          <p:nvPr/>
        </p:nvSpPr>
        <p:spPr>
          <a:xfrm flipH="false" flipV="false" rot="0">
            <a:off x="45566420" y="13814288"/>
            <a:ext cx="937700" cy="368480"/>
          </a:xfrm>
          <a:custGeom>
            <a:avLst/>
            <a:gdLst/>
            <a:ahLst/>
            <a:cxnLst/>
            <a:rect r="r" b="b" t="t" l="l"/>
            <a:pathLst>
              <a:path h="368480" w="937700">
                <a:moveTo>
                  <a:pt x="0" y="0"/>
                </a:moveTo>
                <a:lnTo>
                  <a:pt x="937700" y="0"/>
                </a:lnTo>
                <a:lnTo>
                  <a:pt x="937700" y="368480"/>
                </a:lnTo>
                <a:lnTo>
                  <a:pt x="0" y="368480"/>
                </a:lnTo>
                <a:lnTo>
                  <a:pt x="0" y="0"/>
                </a:lnTo>
                <a:close/>
              </a:path>
            </a:pathLst>
          </a:custGeom>
          <a:blipFill>
            <a:blip r:embed="rId58"/>
            <a:stretch>
              <a:fillRect l="0" t="0" r="0" b="0"/>
            </a:stretch>
          </a:blipFill>
        </p:spPr>
      </p:sp>
      <p:grpSp>
        <p:nvGrpSpPr>
          <p:cNvPr name="Group 385" id="385"/>
          <p:cNvGrpSpPr/>
          <p:nvPr/>
        </p:nvGrpSpPr>
        <p:grpSpPr>
          <a:xfrm rot="0">
            <a:off x="22408392" y="12580364"/>
            <a:ext cx="1331639" cy="1331639"/>
            <a:chOff x="0" y="0"/>
            <a:chExt cx="812800" cy="812800"/>
          </a:xfrm>
        </p:grpSpPr>
        <p:sp>
          <p:nvSpPr>
            <p:cNvPr name="Freeform 386" id="38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2440"/>
            </a:solidFill>
          </p:spPr>
        </p:sp>
        <p:sp>
          <p:nvSpPr>
            <p:cNvPr name="TextBox 387" id="38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88" id="388"/>
          <p:cNvSpPr/>
          <p:nvPr/>
        </p:nvSpPr>
        <p:spPr>
          <a:xfrm flipH="false" flipV="false" rot="0">
            <a:off x="22528009" y="13037840"/>
            <a:ext cx="1092405" cy="416688"/>
          </a:xfrm>
          <a:custGeom>
            <a:avLst/>
            <a:gdLst/>
            <a:ahLst/>
            <a:cxnLst/>
            <a:rect r="r" b="b" t="t" l="l"/>
            <a:pathLst>
              <a:path h="416688" w="1092405">
                <a:moveTo>
                  <a:pt x="0" y="0"/>
                </a:moveTo>
                <a:lnTo>
                  <a:pt x="1092404" y="0"/>
                </a:lnTo>
                <a:lnTo>
                  <a:pt x="1092404" y="416688"/>
                </a:lnTo>
                <a:lnTo>
                  <a:pt x="0" y="416688"/>
                </a:lnTo>
                <a:lnTo>
                  <a:pt x="0" y="0"/>
                </a:lnTo>
                <a:close/>
              </a:path>
            </a:pathLst>
          </a:custGeom>
          <a:blipFill>
            <a:blip r:embed="rId59"/>
            <a:stretch>
              <a:fillRect l="-4793" t="0" r="-8646" b="0"/>
            </a:stretch>
          </a:blipFill>
        </p:spPr>
      </p:sp>
      <p:sp>
        <p:nvSpPr>
          <p:cNvPr name="Freeform 389" id="389"/>
          <p:cNvSpPr/>
          <p:nvPr/>
        </p:nvSpPr>
        <p:spPr>
          <a:xfrm flipH="false" flipV="false" rot="0">
            <a:off x="32944662" y="9482995"/>
            <a:ext cx="2054947" cy="597713"/>
          </a:xfrm>
          <a:custGeom>
            <a:avLst/>
            <a:gdLst/>
            <a:ahLst/>
            <a:cxnLst/>
            <a:rect r="r" b="b" t="t" l="l"/>
            <a:pathLst>
              <a:path h="597713" w="2054947">
                <a:moveTo>
                  <a:pt x="0" y="0"/>
                </a:moveTo>
                <a:lnTo>
                  <a:pt x="2054947" y="0"/>
                </a:lnTo>
                <a:lnTo>
                  <a:pt x="2054947" y="597713"/>
                </a:lnTo>
                <a:lnTo>
                  <a:pt x="0" y="597713"/>
                </a:lnTo>
                <a:lnTo>
                  <a:pt x="0" y="0"/>
                </a:lnTo>
                <a:close/>
              </a:path>
            </a:pathLst>
          </a:custGeom>
          <a:blipFill>
            <a:blip r:embed="rId60"/>
            <a:stretch>
              <a:fillRect l="0" t="0" r="0" b="0"/>
            </a:stretch>
          </a:blipFill>
        </p:spPr>
      </p:sp>
      <p:grpSp>
        <p:nvGrpSpPr>
          <p:cNvPr name="Group 390" id="390"/>
          <p:cNvGrpSpPr/>
          <p:nvPr/>
        </p:nvGrpSpPr>
        <p:grpSpPr>
          <a:xfrm rot="0">
            <a:off x="37797601" y="16674132"/>
            <a:ext cx="5604549" cy="4409537"/>
            <a:chOff x="0" y="0"/>
            <a:chExt cx="7472731" cy="5879382"/>
          </a:xfrm>
        </p:grpSpPr>
        <p:sp>
          <p:nvSpPr>
            <p:cNvPr name="Freeform 391" id="391"/>
            <p:cNvSpPr/>
            <p:nvPr/>
          </p:nvSpPr>
          <p:spPr>
            <a:xfrm flipH="false" flipV="false" rot="0">
              <a:off x="0" y="2436198"/>
              <a:ext cx="7472731" cy="3443184"/>
            </a:xfrm>
            <a:custGeom>
              <a:avLst/>
              <a:gdLst/>
              <a:ahLst/>
              <a:cxnLst/>
              <a:rect r="r" b="b" t="t" l="l"/>
              <a:pathLst>
                <a:path h="3443184" w="7472731">
                  <a:moveTo>
                    <a:pt x="0" y="0"/>
                  </a:moveTo>
                  <a:lnTo>
                    <a:pt x="7472731" y="0"/>
                  </a:lnTo>
                  <a:lnTo>
                    <a:pt x="7472731" y="3443184"/>
                  </a:lnTo>
                  <a:lnTo>
                    <a:pt x="0" y="3443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1"/>
              <a:stretch>
                <a:fillRect l="-54879" t="0" r="0" b="0"/>
              </a:stretch>
            </a:blipFill>
          </p:spPr>
        </p:sp>
        <p:sp>
          <p:nvSpPr>
            <p:cNvPr name="Freeform 392" id="392"/>
            <p:cNvSpPr/>
            <p:nvPr/>
          </p:nvSpPr>
          <p:spPr>
            <a:xfrm flipH="false" flipV="false" rot="0">
              <a:off x="1860671" y="0"/>
              <a:ext cx="3751389" cy="3443184"/>
            </a:xfrm>
            <a:custGeom>
              <a:avLst/>
              <a:gdLst/>
              <a:ahLst/>
              <a:cxnLst/>
              <a:rect r="r" b="b" t="t" l="l"/>
              <a:pathLst>
                <a:path h="3443184" w="3751389">
                  <a:moveTo>
                    <a:pt x="0" y="0"/>
                  </a:moveTo>
                  <a:lnTo>
                    <a:pt x="3751389" y="0"/>
                  </a:lnTo>
                  <a:lnTo>
                    <a:pt x="3751389" y="3443184"/>
                  </a:lnTo>
                  <a:lnTo>
                    <a:pt x="0" y="3443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1"/>
              <a:stretch>
                <a:fillRect l="0" t="-172" r="-209582" b="-172"/>
              </a:stretch>
            </a:blipFill>
          </p:spPr>
        </p:sp>
      </p:grpSp>
      <p:sp>
        <p:nvSpPr>
          <p:cNvPr name="Freeform 393" id="393"/>
          <p:cNvSpPr/>
          <p:nvPr/>
        </p:nvSpPr>
        <p:spPr>
          <a:xfrm flipH="false" flipV="false" rot="0">
            <a:off x="41159554" y="11496046"/>
            <a:ext cx="4293775" cy="2039543"/>
          </a:xfrm>
          <a:custGeom>
            <a:avLst/>
            <a:gdLst/>
            <a:ahLst/>
            <a:cxnLst/>
            <a:rect r="r" b="b" t="t" l="l"/>
            <a:pathLst>
              <a:path h="2039543" w="4293775">
                <a:moveTo>
                  <a:pt x="0" y="0"/>
                </a:moveTo>
                <a:lnTo>
                  <a:pt x="4293775" y="0"/>
                </a:lnTo>
                <a:lnTo>
                  <a:pt x="4293775" y="2039543"/>
                </a:lnTo>
                <a:lnTo>
                  <a:pt x="0" y="2039543"/>
                </a:lnTo>
                <a:lnTo>
                  <a:pt x="0" y="0"/>
                </a:lnTo>
                <a:close/>
              </a:path>
            </a:pathLst>
          </a:custGeom>
          <a:blipFill>
            <a:blip r:embed="rId62"/>
            <a:stretch>
              <a:fillRect l="0" t="0" r="0" b="0"/>
            </a:stretch>
          </a:blipFill>
        </p:spPr>
      </p:sp>
      <p:sp>
        <p:nvSpPr>
          <p:cNvPr name="Freeform 394" id="394"/>
          <p:cNvSpPr/>
          <p:nvPr/>
        </p:nvSpPr>
        <p:spPr>
          <a:xfrm flipH="false" flipV="false" rot="0">
            <a:off x="32554567" y="22343148"/>
            <a:ext cx="2835136" cy="960402"/>
          </a:xfrm>
          <a:custGeom>
            <a:avLst/>
            <a:gdLst/>
            <a:ahLst/>
            <a:cxnLst/>
            <a:rect r="r" b="b" t="t" l="l"/>
            <a:pathLst>
              <a:path h="960402" w="2835136">
                <a:moveTo>
                  <a:pt x="0" y="0"/>
                </a:moveTo>
                <a:lnTo>
                  <a:pt x="2835137" y="0"/>
                </a:lnTo>
                <a:lnTo>
                  <a:pt x="2835137" y="960403"/>
                </a:lnTo>
                <a:lnTo>
                  <a:pt x="0" y="960403"/>
                </a:lnTo>
                <a:lnTo>
                  <a:pt x="0" y="0"/>
                </a:lnTo>
                <a:close/>
              </a:path>
            </a:pathLst>
          </a:custGeom>
          <a:blipFill>
            <a:blip r:embed="rId63"/>
            <a:stretch>
              <a:fillRect l="0" t="0" r="0" b="0"/>
            </a:stretch>
          </a:blipFill>
        </p:spPr>
      </p:sp>
      <p:grpSp>
        <p:nvGrpSpPr>
          <p:cNvPr name="Group 395" id="395"/>
          <p:cNvGrpSpPr/>
          <p:nvPr/>
        </p:nvGrpSpPr>
        <p:grpSpPr>
          <a:xfrm rot="0">
            <a:off x="30472070" y="23447511"/>
            <a:ext cx="1979724" cy="1979724"/>
            <a:chOff x="0" y="0"/>
            <a:chExt cx="812800" cy="812800"/>
          </a:xfrm>
        </p:grpSpPr>
        <p:sp>
          <p:nvSpPr>
            <p:cNvPr name="Freeform 396" id="39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97" id="39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7"/>
                </a:lnSpc>
              </a:pPr>
            </a:p>
          </p:txBody>
        </p:sp>
      </p:grpSp>
      <p:sp>
        <p:nvSpPr>
          <p:cNvPr name="Freeform 398" id="398"/>
          <p:cNvSpPr/>
          <p:nvPr/>
        </p:nvSpPr>
        <p:spPr>
          <a:xfrm flipH="false" flipV="false" rot="0">
            <a:off x="31032263" y="23908685"/>
            <a:ext cx="859339" cy="1057376"/>
          </a:xfrm>
          <a:custGeom>
            <a:avLst/>
            <a:gdLst/>
            <a:ahLst/>
            <a:cxnLst/>
            <a:rect r="r" b="b" t="t" l="l"/>
            <a:pathLst>
              <a:path h="1057376" w="859339">
                <a:moveTo>
                  <a:pt x="0" y="0"/>
                </a:moveTo>
                <a:lnTo>
                  <a:pt x="859339" y="0"/>
                </a:lnTo>
                <a:lnTo>
                  <a:pt x="859339" y="1057376"/>
                </a:lnTo>
                <a:lnTo>
                  <a:pt x="0" y="1057376"/>
                </a:lnTo>
                <a:lnTo>
                  <a:pt x="0" y="0"/>
                </a:lnTo>
                <a:close/>
              </a:path>
            </a:pathLst>
          </a:custGeom>
          <a:blipFill>
            <a:blip r:embed="rId64"/>
            <a:stretch>
              <a:fillRect l="0" t="0" r="0" b="0"/>
            </a:stretch>
          </a:blipFill>
        </p:spPr>
      </p:sp>
      <p:sp>
        <p:nvSpPr>
          <p:cNvPr name="Freeform 399" id="399"/>
          <p:cNvSpPr/>
          <p:nvPr/>
        </p:nvSpPr>
        <p:spPr>
          <a:xfrm flipH="false" flipV="false" rot="0">
            <a:off x="28737685" y="22703735"/>
            <a:ext cx="2073242" cy="393916"/>
          </a:xfrm>
          <a:custGeom>
            <a:avLst/>
            <a:gdLst/>
            <a:ahLst/>
            <a:cxnLst/>
            <a:rect r="r" b="b" t="t" l="l"/>
            <a:pathLst>
              <a:path h="393916" w="2073242">
                <a:moveTo>
                  <a:pt x="0" y="0"/>
                </a:moveTo>
                <a:lnTo>
                  <a:pt x="2073242" y="0"/>
                </a:lnTo>
                <a:lnTo>
                  <a:pt x="2073242" y="393915"/>
                </a:lnTo>
                <a:lnTo>
                  <a:pt x="0" y="393915"/>
                </a:lnTo>
                <a:lnTo>
                  <a:pt x="0" y="0"/>
                </a:lnTo>
                <a:close/>
              </a:path>
            </a:pathLst>
          </a:custGeom>
          <a:blipFill>
            <a:blip r:embed="rId65"/>
            <a:stretch>
              <a:fillRect l="0" t="0" r="0" b="0"/>
            </a:stretch>
          </a:blipFill>
        </p:spPr>
      </p:sp>
      <p:sp>
        <p:nvSpPr>
          <p:cNvPr name="TextBox 400" id="400"/>
          <p:cNvSpPr txBox="true"/>
          <p:nvPr/>
        </p:nvSpPr>
        <p:spPr>
          <a:xfrm rot="0">
            <a:off x="37741951" y="8748764"/>
            <a:ext cx="746030" cy="23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sz="140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Asus</a:t>
            </a:r>
          </a:p>
        </p:txBody>
      </p:sp>
      <p:sp>
        <p:nvSpPr>
          <p:cNvPr name="TextBox 401" id="401"/>
          <p:cNvSpPr txBox="true"/>
          <p:nvPr/>
        </p:nvSpPr>
        <p:spPr>
          <a:xfrm rot="0">
            <a:off x="26152854" y="7079900"/>
            <a:ext cx="746030" cy="446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z="88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Guide</a:t>
            </a:r>
          </a:p>
          <a:p>
            <a:pPr algn="ctr">
              <a:lnSpc>
                <a:spcPts val="1240"/>
              </a:lnSpc>
            </a:pPr>
            <a:r>
              <a:rPr lang="en-US" sz="88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Point</a:t>
            </a:r>
          </a:p>
          <a:p>
            <a:pPr algn="ctr">
              <a:lnSpc>
                <a:spcPts val="1240"/>
              </a:lnSpc>
            </a:pPr>
            <a:r>
              <a:rPr lang="en-US" sz="88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Security</a:t>
            </a:r>
          </a:p>
        </p:txBody>
      </p:sp>
      <p:sp>
        <p:nvSpPr>
          <p:cNvPr name="TextBox 402" id="402"/>
          <p:cNvSpPr txBox="true"/>
          <p:nvPr/>
        </p:nvSpPr>
        <p:spPr>
          <a:xfrm rot="0">
            <a:off x="2678906" y="2770942"/>
            <a:ext cx="17404363" cy="5462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18"/>
              </a:lnSpc>
            </a:pPr>
            <a:r>
              <a:rPr lang="en-US" sz="1354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Earliest Reporter of Exploitation in the Wild</a:t>
            </a:r>
          </a:p>
        </p:txBody>
      </p:sp>
      <p:sp>
        <p:nvSpPr>
          <p:cNvPr name="TextBox 403" id="403"/>
          <p:cNvSpPr txBox="true"/>
          <p:nvPr/>
        </p:nvSpPr>
        <p:spPr>
          <a:xfrm rot="0">
            <a:off x="2678906" y="8621612"/>
            <a:ext cx="16105739" cy="837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1"/>
              </a:lnSpc>
            </a:pPr>
            <a:r>
              <a:rPr lang="en-US" sz="4943">
                <a:solidFill>
                  <a:srgbClr val="00000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Source: VulnCheck KEV (2025)</a:t>
            </a:r>
          </a:p>
        </p:txBody>
      </p:sp>
      <p:sp>
        <p:nvSpPr>
          <p:cNvPr name="TextBox 404" id="404"/>
          <p:cNvSpPr txBox="true"/>
          <p:nvPr/>
        </p:nvSpPr>
        <p:spPr>
          <a:xfrm rot="0">
            <a:off x="45670278" y="17192467"/>
            <a:ext cx="468048" cy="882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5"/>
              </a:lnSpc>
            </a:pPr>
            <a:r>
              <a:rPr lang="en-US" sz="5153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X</a:t>
            </a:r>
          </a:p>
        </p:txBody>
      </p:sp>
      <p:sp>
        <p:nvSpPr>
          <p:cNvPr name="TextBox 405" id="405"/>
          <p:cNvSpPr txBox="true"/>
          <p:nvPr/>
        </p:nvSpPr>
        <p:spPr>
          <a:xfrm rot="0">
            <a:off x="38410578" y="24002707"/>
            <a:ext cx="1304134" cy="72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4"/>
              </a:lnSpc>
            </a:pPr>
            <a:r>
              <a:rPr lang="en-US" sz="143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Japan</a:t>
            </a:r>
          </a:p>
          <a:p>
            <a:pPr algn="ctr">
              <a:lnSpc>
                <a:spcPts val="2004"/>
              </a:lnSpc>
            </a:pPr>
            <a:r>
              <a:rPr lang="en-US" sz="143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Vulnerability</a:t>
            </a:r>
          </a:p>
          <a:p>
            <a:pPr algn="ctr">
              <a:lnSpc>
                <a:spcPts val="2004"/>
              </a:lnSpc>
            </a:pPr>
            <a:r>
              <a:rPr lang="en-US" sz="143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Notes</a:t>
            </a:r>
          </a:p>
        </p:txBody>
      </p:sp>
      <p:sp>
        <p:nvSpPr>
          <p:cNvPr name="TextBox 406" id="406"/>
          <p:cNvSpPr txBox="true"/>
          <p:nvPr/>
        </p:nvSpPr>
        <p:spPr>
          <a:xfrm rot="0">
            <a:off x="39261008" y="2717727"/>
            <a:ext cx="1055955" cy="484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6"/>
              </a:lnSpc>
            </a:pPr>
            <a:r>
              <a:rPr lang="en-US" sz="1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Hunters</a:t>
            </a:r>
          </a:p>
          <a:p>
            <a:pPr algn="ctr">
              <a:lnSpc>
                <a:spcPts val="2036"/>
              </a:lnSpc>
            </a:pPr>
            <a:r>
              <a:rPr lang="en-US" sz="145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Strategy</a:t>
            </a:r>
          </a:p>
        </p:txBody>
      </p:sp>
      <p:sp>
        <p:nvSpPr>
          <p:cNvPr name="TextBox 407" id="407"/>
          <p:cNvSpPr txBox="true"/>
          <p:nvPr/>
        </p:nvSpPr>
        <p:spPr>
          <a:xfrm rot="0">
            <a:off x="38923170" y="1830919"/>
            <a:ext cx="746030" cy="37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Security</a:t>
            </a:r>
          </a:p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Bridge</a:t>
            </a:r>
          </a:p>
        </p:txBody>
      </p:sp>
      <p:sp>
        <p:nvSpPr>
          <p:cNvPr name="TextBox 408" id="408"/>
          <p:cNvSpPr txBox="true"/>
          <p:nvPr/>
        </p:nvSpPr>
        <p:spPr>
          <a:xfrm rot="0">
            <a:off x="37773752" y="1302698"/>
            <a:ext cx="746030" cy="1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TWCERT</a:t>
            </a:r>
          </a:p>
        </p:txBody>
      </p:sp>
      <p:sp>
        <p:nvSpPr>
          <p:cNvPr name="TextBox 409" id="409"/>
          <p:cNvSpPr txBox="true"/>
          <p:nvPr/>
        </p:nvSpPr>
        <p:spPr>
          <a:xfrm rot="0">
            <a:off x="36737496" y="1128152"/>
            <a:ext cx="746030" cy="37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Security Week</a:t>
            </a:r>
          </a:p>
        </p:txBody>
      </p:sp>
      <p:sp>
        <p:nvSpPr>
          <p:cNvPr name="TextBox 410" id="410"/>
          <p:cNvSpPr txBox="true"/>
          <p:nvPr/>
        </p:nvSpPr>
        <p:spPr>
          <a:xfrm rot="0">
            <a:off x="35688541" y="797074"/>
            <a:ext cx="746030" cy="1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Seqrite</a:t>
            </a:r>
          </a:p>
        </p:txBody>
      </p:sp>
      <p:sp>
        <p:nvSpPr>
          <p:cNvPr name="TextBox 411" id="411"/>
          <p:cNvSpPr txBox="true"/>
          <p:nvPr/>
        </p:nvSpPr>
        <p:spPr>
          <a:xfrm rot="0">
            <a:off x="34789893" y="1263647"/>
            <a:ext cx="746030" cy="1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Aviatrix</a:t>
            </a:r>
          </a:p>
        </p:txBody>
      </p:sp>
      <p:sp>
        <p:nvSpPr>
          <p:cNvPr name="TextBox 412" id="412"/>
          <p:cNvSpPr txBox="true"/>
          <p:nvPr/>
        </p:nvSpPr>
        <p:spPr>
          <a:xfrm rot="0">
            <a:off x="34004913" y="641138"/>
            <a:ext cx="746030" cy="1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Vuldb</a:t>
            </a:r>
          </a:p>
        </p:txBody>
      </p:sp>
      <p:sp>
        <p:nvSpPr>
          <p:cNvPr name="TextBox 413" id="413"/>
          <p:cNvSpPr txBox="true"/>
          <p:nvPr/>
        </p:nvSpPr>
        <p:spPr>
          <a:xfrm rot="0">
            <a:off x="40507175" y="2865373"/>
            <a:ext cx="746030" cy="1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Sekoia</a:t>
            </a:r>
          </a:p>
        </p:txBody>
      </p:sp>
      <p:sp>
        <p:nvSpPr>
          <p:cNvPr name="TextBox 414" id="414"/>
          <p:cNvSpPr txBox="true"/>
          <p:nvPr/>
        </p:nvSpPr>
        <p:spPr>
          <a:xfrm rot="0">
            <a:off x="41230167" y="3538696"/>
            <a:ext cx="746030" cy="37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Cyber</a:t>
            </a:r>
          </a:p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Place</a:t>
            </a:r>
          </a:p>
        </p:txBody>
      </p:sp>
      <p:sp>
        <p:nvSpPr>
          <p:cNvPr name="TextBox 415" id="415"/>
          <p:cNvSpPr txBox="true"/>
          <p:nvPr/>
        </p:nvSpPr>
        <p:spPr>
          <a:xfrm rot="0">
            <a:off x="42525097" y="4524945"/>
            <a:ext cx="746030" cy="1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Prodaft</a:t>
            </a:r>
          </a:p>
        </p:txBody>
      </p:sp>
      <p:sp>
        <p:nvSpPr>
          <p:cNvPr name="TextBox 416" id="416"/>
          <p:cNvSpPr txBox="true"/>
          <p:nvPr/>
        </p:nvSpPr>
        <p:spPr>
          <a:xfrm rot="0">
            <a:off x="43448857" y="6242367"/>
            <a:ext cx="746030" cy="37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Citizen</a:t>
            </a:r>
          </a:p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Lab</a:t>
            </a:r>
          </a:p>
        </p:txBody>
      </p:sp>
      <p:sp>
        <p:nvSpPr>
          <p:cNvPr name="TextBox 417" id="417"/>
          <p:cNvSpPr txBox="true"/>
          <p:nvPr/>
        </p:nvSpPr>
        <p:spPr>
          <a:xfrm rot="0">
            <a:off x="45208613" y="9255859"/>
            <a:ext cx="746030" cy="1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Olegzay</a:t>
            </a:r>
          </a:p>
        </p:txBody>
      </p:sp>
      <p:sp>
        <p:nvSpPr>
          <p:cNvPr name="TextBox 418" id="418"/>
          <p:cNvSpPr txBox="true"/>
          <p:nvPr/>
        </p:nvSpPr>
        <p:spPr>
          <a:xfrm rot="0">
            <a:off x="46085791" y="10882950"/>
            <a:ext cx="746030" cy="1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libraesva</a:t>
            </a:r>
          </a:p>
        </p:txBody>
      </p:sp>
      <p:sp>
        <p:nvSpPr>
          <p:cNvPr name="TextBox 419" id="419"/>
          <p:cNvSpPr txBox="true"/>
          <p:nvPr/>
        </p:nvSpPr>
        <p:spPr>
          <a:xfrm rot="0">
            <a:off x="45965464" y="12816860"/>
            <a:ext cx="746030" cy="275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81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Reversing</a:t>
            </a:r>
          </a:p>
          <a:p>
            <a:pPr algn="ctr">
              <a:lnSpc>
                <a:spcPts val="1146"/>
              </a:lnSpc>
            </a:pPr>
            <a:r>
              <a:rPr lang="en-US" sz="81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Labs</a:t>
            </a:r>
          </a:p>
        </p:txBody>
      </p:sp>
      <p:sp>
        <p:nvSpPr>
          <p:cNvPr name="TextBox 420" id="420"/>
          <p:cNvSpPr txBox="true"/>
          <p:nvPr/>
        </p:nvSpPr>
        <p:spPr>
          <a:xfrm rot="0">
            <a:off x="35771801" y="25814351"/>
            <a:ext cx="746030" cy="13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81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Commvault</a:t>
            </a:r>
          </a:p>
        </p:txBody>
      </p:sp>
      <p:sp>
        <p:nvSpPr>
          <p:cNvPr name="TextBox 421" id="421"/>
          <p:cNvSpPr txBox="true"/>
          <p:nvPr/>
        </p:nvSpPr>
        <p:spPr>
          <a:xfrm rot="0">
            <a:off x="45920079" y="16284274"/>
            <a:ext cx="746030" cy="470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sz="140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NCSC</a:t>
            </a:r>
          </a:p>
          <a:p>
            <a:pPr algn="ctr">
              <a:lnSpc>
                <a:spcPts val="1973"/>
              </a:lnSpc>
            </a:pPr>
            <a:r>
              <a:rPr lang="en-US" sz="140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UK</a:t>
            </a:r>
          </a:p>
        </p:txBody>
      </p:sp>
      <p:sp>
        <p:nvSpPr>
          <p:cNvPr name="TextBox 422" id="422"/>
          <p:cNvSpPr txBox="true"/>
          <p:nvPr/>
        </p:nvSpPr>
        <p:spPr>
          <a:xfrm rot="0">
            <a:off x="35162908" y="21132444"/>
            <a:ext cx="746030" cy="13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81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eclypsium</a:t>
            </a:r>
          </a:p>
        </p:txBody>
      </p:sp>
      <p:sp>
        <p:nvSpPr>
          <p:cNvPr name="TextBox 423" id="423"/>
          <p:cNvSpPr txBox="true"/>
          <p:nvPr/>
        </p:nvSpPr>
        <p:spPr>
          <a:xfrm rot="0">
            <a:off x="34540636" y="18252899"/>
            <a:ext cx="1065004" cy="668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7"/>
              </a:lnSpc>
            </a:pPr>
            <a:r>
              <a:rPr lang="en-US" sz="201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CERT</a:t>
            </a:r>
          </a:p>
          <a:p>
            <a:pPr algn="ctr">
              <a:lnSpc>
                <a:spcPts val="2817"/>
              </a:lnSpc>
            </a:pPr>
            <a:r>
              <a:rPr lang="en-US" sz="201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</a:t>
            </a:r>
          </a:p>
        </p:txBody>
      </p:sp>
      <p:sp>
        <p:nvSpPr>
          <p:cNvPr name="TextBox 424" id="424"/>
          <p:cNvSpPr txBox="true"/>
          <p:nvPr/>
        </p:nvSpPr>
        <p:spPr>
          <a:xfrm rot="0">
            <a:off x="21693753" y="14034856"/>
            <a:ext cx="746030" cy="13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81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Watchguard</a:t>
            </a:r>
          </a:p>
        </p:txBody>
      </p:sp>
      <p:sp>
        <p:nvSpPr>
          <p:cNvPr name="TextBox 425" id="425"/>
          <p:cNvSpPr txBox="true"/>
          <p:nvPr/>
        </p:nvSpPr>
        <p:spPr>
          <a:xfrm rot="0">
            <a:off x="31949303" y="14996108"/>
            <a:ext cx="746030" cy="23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sz="140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rt-solar</a:t>
            </a:r>
          </a:p>
        </p:txBody>
      </p:sp>
      <p:sp>
        <p:nvSpPr>
          <p:cNvPr name="TextBox 426" id="426"/>
          <p:cNvSpPr txBox="true"/>
          <p:nvPr/>
        </p:nvSpPr>
        <p:spPr>
          <a:xfrm rot="0">
            <a:off x="35398786" y="16330009"/>
            <a:ext cx="746030" cy="377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</a:t>
            </a:r>
          </a:p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Security</a:t>
            </a:r>
          </a:p>
        </p:txBody>
      </p:sp>
      <p:sp>
        <p:nvSpPr>
          <p:cNvPr name="TextBox 427" id="427"/>
          <p:cNvSpPr txBox="true"/>
          <p:nvPr/>
        </p:nvSpPr>
        <p:spPr>
          <a:xfrm rot="0">
            <a:off x="29787884" y="7604473"/>
            <a:ext cx="746030" cy="13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81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theravenfile</a:t>
            </a:r>
          </a:p>
        </p:txBody>
      </p:sp>
      <p:sp>
        <p:nvSpPr>
          <p:cNvPr name="TextBox 428" id="428"/>
          <p:cNvSpPr txBox="true"/>
          <p:nvPr/>
        </p:nvSpPr>
        <p:spPr>
          <a:xfrm rot="0">
            <a:off x="34595800" y="25373578"/>
            <a:ext cx="1063488" cy="19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34"/>
              </a:lnSpc>
            </a:pPr>
            <a:r>
              <a:rPr lang="en-US" sz="116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chocapikk</a:t>
            </a:r>
          </a:p>
        </p:txBody>
      </p:sp>
      <p:sp>
        <p:nvSpPr>
          <p:cNvPr name="TextBox 429" id="429"/>
          <p:cNvSpPr txBox="true"/>
          <p:nvPr/>
        </p:nvSpPr>
        <p:spPr>
          <a:xfrm rot="0">
            <a:off x="33599120" y="25056346"/>
            <a:ext cx="746030" cy="23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sz="140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Horde</a:t>
            </a:r>
          </a:p>
        </p:txBody>
      </p:sp>
      <p:sp>
        <p:nvSpPr>
          <p:cNvPr name="TextBox 430" id="430"/>
          <p:cNvSpPr txBox="true"/>
          <p:nvPr/>
        </p:nvSpPr>
        <p:spPr>
          <a:xfrm rot="0">
            <a:off x="29555932" y="24543421"/>
            <a:ext cx="746030" cy="231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sz="140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ACN</a:t>
            </a:r>
          </a:p>
        </p:txBody>
      </p:sp>
      <p:sp>
        <p:nvSpPr>
          <p:cNvPr name="TextBox 431" id="431"/>
          <p:cNvSpPr txBox="true"/>
          <p:nvPr/>
        </p:nvSpPr>
        <p:spPr>
          <a:xfrm rot="0">
            <a:off x="28647618" y="24359499"/>
            <a:ext cx="746030" cy="13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81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Sensepost</a:t>
            </a:r>
          </a:p>
        </p:txBody>
      </p:sp>
      <p:sp>
        <p:nvSpPr>
          <p:cNvPr name="TextBox 432" id="432"/>
          <p:cNvSpPr txBox="true"/>
          <p:nvPr/>
        </p:nvSpPr>
        <p:spPr>
          <a:xfrm rot="0">
            <a:off x="31032591" y="1261107"/>
            <a:ext cx="746030" cy="1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fearsoff</a:t>
            </a:r>
          </a:p>
        </p:txBody>
      </p:sp>
      <p:sp>
        <p:nvSpPr>
          <p:cNvPr name="TextBox 433" id="433"/>
          <p:cNvSpPr txBox="true"/>
          <p:nvPr/>
        </p:nvSpPr>
        <p:spPr>
          <a:xfrm rot="0">
            <a:off x="29139164" y="1872846"/>
            <a:ext cx="746030" cy="1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dotCMS</a:t>
            </a:r>
          </a:p>
        </p:txBody>
      </p:sp>
      <p:sp>
        <p:nvSpPr>
          <p:cNvPr name="TextBox 434" id="434"/>
          <p:cNvSpPr txBox="true"/>
          <p:nvPr/>
        </p:nvSpPr>
        <p:spPr>
          <a:xfrm rot="0">
            <a:off x="26442555" y="3378827"/>
            <a:ext cx="746030" cy="231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sz="140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fox-it</a:t>
            </a:r>
          </a:p>
        </p:txBody>
      </p:sp>
      <p:sp>
        <p:nvSpPr>
          <p:cNvPr name="TextBox 435" id="435"/>
          <p:cNvSpPr txBox="true"/>
          <p:nvPr/>
        </p:nvSpPr>
        <p:spPr>
          <a:xfrm rot="0">
            <a:off x="23583849" y="6551220"/>
            <a:ext cx="746030" cy="37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Falcon</a:t>
            </a:r>
          </a:p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Feeds</a:t>
            </a:r>
          </a:p>
        </p:txBody>
      </p:sp>
      <p:sp>
        <p:nvSpPr>
          <p:cNvPr name="TextBox 436" id="436"/>
          <p:cNvSpPr txBox="true"/>
          <p:nvPr/>
        </p:nvSpPr>
        <p:spPr>
          <a:xfrm rot="0">
            <a:off x="23998339" y="5852299"/>
            <a:ext cx="746030" cy="146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0"/>
              </a:lnSpc>
            </a:pPr>
            <a:r>
              <a:rPr lang="en-US" sz="88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osintteam</a:t>
            </a:r>
          </a:p>
        </p:txBody>
      </p:sp>
      <p:sp>
        <p:nvSpPr>
          <p:cNvPr name="TextBox 437" id="437"/>
          <p:cNvSpPr txBox="true"/>
          <p:nvPr/>
        </p:nvSpPr>
        <p:spPr>
          <a:xfrm rot="0">
            <a:off x="25139112" y="4020153"/>
            <a:ext cx="746030" cy="37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Strike</a:t>
            </a:r>
          </a:p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Ready</a:t>
            </a:r>
          </a:p>
        </p:txBody>
      </p:sp>
      <p:sp>
        <p:nvSpPr>
          <p:cNvPr name="TextBox 438" id="438"/>
          <p:cNvSpPr txBox="true"/>
          <p:nvPr/>
        </p:nvSpPr>
        <p:spPr>
          <a:xfrm rot="0">
            <a:off x="22484911" y="8609696"/>
            <a:ext cx="746030" cy="470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sz="140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NCSC</a:t>
            </a:r>
          </a:p>
          <a:p>
            <a:pPr algn="ctr">
              <a:lnSpc>
                <a:spcPts val="1973"/>
              </a:lnSpc>
            </a:pPr>
            <a:r>
              <a:rPr lang="en-US" sz="140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NL</a:t>
            </a:r>
          </a:p>
        </p:txBody>
      </p:sp>
      <p:sp>
        <p:nvSpPr>
          <p:cNvPr name="TextBox 439" id="439"/>
          <p:cNvSpPr txBox="true"/>
          <p:nvPr/>
        </p:nvSpPr>
        <p:spPr>
          <a:xfrm rot="0">
            <a:off x="21844409" y="9410821"/>
            <a:ext cx="746030" cy="231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3"/>
              </a:lnSpc>
            </a:pPr>
            <a:r>
              <a:rPr lang="en-US" sz="140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Nviso</a:t>
            </a:r>
          </a:p>
        </p:txBody>
      </p:sp>
      <p:sp>
        <p:nvSpPr>
          <p:cNvPr name="TextBox 440" id="440"/>
          <p:cNvSpPr txBox="true"/>
          <p:nvPr/>
        </p:nvSpPr>
        <p:spPr>
          <a:xfrm rot="0">
            <a:off x="21356011" y="11018787"/>
            <a:ext cx="746030" cy="1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nccgroup</a:t>
            </a:r>
          </a:p>
        </p:txBody>
      </p:sp>
      <p:sp>
        <p:nvSpPr>
          <p:cNvPr name="TextBox 441" id="441"/>
          <p:cNvSpPr txBox="true"/>
          <p:nvPr/>
        </p:nvSpPr>
        <p:spPr>
          <a:xfrm rot="0">
            <a:off x="35718181" y="9252787"/>
            <a:ext cx="746030" cy="37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CMU</a:t>
            </a:r>
          </a:p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CERT</a:t>
            </a:r>
          </a:p>
        </p:txBody>
      </p:sp>
      <p:sp>
        <p:nvSpPr>
          <p:cNvPr name="TextBox 442" id="442"/>
          <p:cNvSpPr txBox="true"/>
          <p:nvPr/>
        </p:nvSpPr>
        <p:spPr>
          <a:xfrm rot="0">
            <a:off x="31992083" y="20926980"/>
            <a:ext cx="746030" cy="1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Cofense</a:t>
            </a:r>
          </a:p>
        </p:txBody>
      </p:sp>
      <p:sp>
        <p:nvSpPr>
          <p:cNvPr name="TextBox 443" id="443"/>
          <p:cNvSpPr txBox="true"/>
          <p:nvPr/>
        </p:nvSpPr>
        <p:spPr>
          <a:xfrm rot="0">
            <a:off x="29262529" y="6699301"/>
            <a:ext cx="746030" cy="1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Onapsis</a:t>
            </a:r>
          </a:p>
        </p:txBody>
      </p:sp>
      <p:sp>
        <p:nvSpPr>
          <p:cNvPr name="TextBox 444" id="444"/>
          <p:cNvSpPr txBox="true"/>
          <p:nvPr/>
        </p:nvSpPr>
        <p:spPr>
          <a:xfrm rot="0">
            <a:off x="36805509" y="9267990"/>
            <a:ext cx="746030" cy="188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bi.zone</a:t>
            </a:r>
          </a:p>
        </p:txBody>
      </p:sp>
      <p:sp>
        <p:nvSpPr>
          <p:cNvPr name="TextBox 445" id="445"/>
          <p:cNvSpPr txBox="true"/>
          <p:nvPr/>
        </p:nvSpPr>
        <p:spPr>
          <a:xfrm rot="0">
            <a:off x="25239049" y="22064208"/>
            <a:ext cx="746030" cy="56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</a:t>
            </a:r>
          </a:p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Hacker</a:t>
            </a:r>
          </a:p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News</a:t>
            </a:r>
          </a:p>
        </p:txBody>
      </p:sp>
      <p:sp>
        <p:nvSpPr>
          <p:cNvPr name="TextBox 446" id="446"/>
          <p:cNvSpPr txBox="true"/>
          <p:nvPr/>
        </p:nvSpPr>
        <p:spPr>
          <a:xfrm rot="0">
            <a:off x="31789443" y="25733078"/>
            <a:ext cx="746030" cy="136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6"/>
              </a:lnSpc>
            </a:pPr>
            <a:r>
              <a:rPr lang="en-US" sz="81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Checkpoint</a:t>
            </a:r>
          </a:p>
        </p:txBody>
      </p:sp>
      <p:sp>
        <p:nvSpPr>
          <p:cNvPr name="TextBox 447" id="447"/>
          <p:cNvSpPr txBox="true"/>
          <p:nvPr/>
        </p:nvSpPr>
        <p:spPr>
          <a:xfrm rot="0">
            <a:off x="26666462" y="23470310"/>
            <a:ext cx="746030" cy="566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Under</a:t>
            </a:r>
          </a:p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Code</a:t>
            </a:r>
          </a:p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Testing</a:t>
            </a:r>
          </a:p>
        </p:txBody>
      </p:sp>
      <p:sp>
        <p:nvSpPr>
          <p:cNvPr name="TextBox 448" id="448"/>
          <p:cNvSpPr txBox="true"/>
          <p:nvPr/>
        </p:nvSpPr>
        <p:spPr>
          <a:xfrm rot="0">
            <a:off x="27684137" y="23837685"/>
            <a:ext cx="746030" cy="37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Endor</a:t>
            </a:r>
          </a:p>
          <a:p>
            <a:pPr algn="ctr">
              <a:lnSpc>
                <a:spcPts val="1560"/>
              </a:lnSpc>
            </a:pPr>
            <a:r>
              <a:rPr lang="en-US" sz="111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Labs</a:t>
            </a:r>
          </a:p>
        </p:txBody>
      </p:sp>
      <p:sp>
        <p:nvSpPr>
          <p:cNvPr name="TextBox 449" id="449"/>
          <p:cNvSpPr txBox="true"/>
          <p:nvPr/>
        </p:nvSpPr>
        <p:spPr>
          <a:xfrm rot="0">
            <a:off x="42580779" y="5535578"/>
            <a:ext cx="1058287" cy="26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3"/>
              </a:lnSpc>
            </a:pPr>
            <a:r>
              <a:rPr lang="en-US" sz="15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KEVIntel</a:t>
            </a:r>
          </a:p>
        </p:txBody>
      </p:sp>
      <p:sp>
        <p:nvSpPr>
          <p:cNvPr name="TextBox 450" id="450"/>
          <p:cNvSpPr txBox="true"/>
          <p:nvPr/>
        </p:nvSpPr>
        <p:spPr>
          <a:xfrm rot="0">
            <a:off x="32283882" y="17208195"/>
            <a:ext cx="1058287" cy="26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3"/>
              </a:lnSpc>
            </a:pPr>
            <a:r>
              <a:rPr lang="en-US" sz="158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Medium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79382" y="10748765"/>
            <a:ext cx="18117515" cy="549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4"/>
              </a:lnSpc>
            </a:pPr>
            <a:r>
              <a:rPr lang="en-US" sz="1953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KEVs by Category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0274927" y="24114442"/>
            <a:ext cx="4670690" cy="932972"/>
          </a:xfrm>
          <a:custGeom>
            <a:avLst/>
            <a:gdLst/>
            <a:ahLst/>
            <a:cxnLst/>
            <a:rect r="r" b="b" t="t" l="l"/>
            <a:pathLst>
              <a:path h="932972" w="4670690">
                <a:moveTo>
                  <a:pt x="0" y="0"/>
                </a:moveTo>
                <a:lnTo>
                  <a:pt x="4670690" y="0"/>
                </a:lnTo>
                <a:lnTo>
                  <a:pt x="4670690" y="932972"/>
                </a:lnTo>
                <a:lnTo>
                  <a:pt x="0" y="932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662682">
            <a:off x="26051276" y="-9869537"/>
            <a:ext cx="29894565" cy="38698467"/>
          </a:xfrm>
          <a:custGeom>
            <a:avLst/>
            <a:gdLst/>
            <a:ahLst/>
            <a:cxnLst/>
            <a:rect r="r" b="b" t="t" l="l"/>
            <a:pathLst>
              <a:path h="38698467" w="29894565">
                <a:moveTo>
                  <a:pt x="0" y="0"/>
                </a:moveTo>
                <a:lnTo>
                  <a:pt x="29894566" y="0"/>
                </a:lnTo>
                <a:lnTo>
                  <a:pt x="29894566" y="38698467"/>
                </a:lnTo>
                <a:lnTo>
                  <a:pt x="0" y="38698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3891896" y="-4321168"/>
            <a:ext cx="55408794" cy="35436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2957789" y="1114012"/>
            <a:ext cx="35285642" cy="25274648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2678906" y="2814638"/>
            <a:ext cx="12127107" cy="38089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95"/>
              </a:lnSpc>
            </a:pPr>
            <a:r>
              <a:rPr lang="en-US" sz="1354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Targeted Technologies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78906" y="7274039"/>
            <a:ext cx="10006993" cy="92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6"/>
              </a:lnSpc>
              <a:spcBef>
                <a:spcPct val="0"/>
              </a:spcBef>
            </a:pPr>
            <a:r>
              <a:rPr lang="en-US" sz="5433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Source: VulnCheck KEV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61529" y="2662238"/>
            <a:ext cx="12911227" cy="81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06"/>
              </a:lnSpc>
              <a:spcBef>
                <a:spcPct val="0"/>
              </a:spcBef>
            </a:pPr>
            <a:r>
              <a:rPr lang="en-US" sz="5295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of KEVs by Technology Category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8864466" y="24120236"/>
            <a:ext cx="6081628" cy="1214807"/>
          </a:xfrm>
          <a:custGeom>
            <a:avLst/>
            <a:gdLst/>
            <a:ahLst/>
            <a:cxnLst/>
            <a:rect r="r" b="b" t="t" l="l"/>
            <a:pathLst>
              <a:path h="1214807" w="6081628">
                <a:moveTo>
                  <a:pt x="0" y="0"/>
                </a:moveTo>
                <a:lnTo>
                  <a:pt x="6081628" y="0"/>
                </a:lnTo>
                <a:lnTo>
                  <a:pt x="6081628" y="1214807"/>
                </a:lnTo>
                <a:lnTo>
                  <a:pt x="0" y="12148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2991695" y="1836197"/>
            <a:ext cx="53319059" cy="24635668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 rot="0">
            <a:off x="9408256" y="20435178"/>
            <a:ext cx="35957096" cy="677259"/>
            <a:chOff x="0" y="0"/>
            <a:chExt cx="3168297" cy="596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68297" cy="59676"/>
            </a:xfrm>
            <a:custGeom>
              <a:avLst/>
              <a:gdLst/>
              <a:ahLst/>
              <a:cxnLst/>
              <a:rect r="r" b="b" t="t" l="l"/>
              <a:pathLst>
                <a:path h="59676" w="3168297">
                  <a:moveTo>
                    <a:pt x="0" y="0"/>
                  </a:moveTo>
                  <a:lnTo>
                    <a:pt x="3168297" y="0"/>
                  </a:lnTo>
                  <a:lnTo>
                    <a:pt x="3168297" y="59676"/>
                  </a:lnTo>
                  <a:lnTo>
                    <a:pt x="0" y="59676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14300"/>
              <a:ext cx="3168297" cy="1739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60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1200202" y="3192070"/>
            <a:ext cx="6401402" cy="2498997"/>
            <a:chOff x="0" y="0"/>
            <a:chExt cx="564048" cy="220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4048" cy="220195"/>
            </a:xfrm>
            <a:custGeom>
              <a:avLst/>
              <a:gdLst/>
              <a:ahLst/>
              <a:cxnLst/>
              <a:rect r="r" b="b" t="t" l="l"/>
              <a:pathLst>
                <a:path h="220195" w="564048">
                  <a:moveTo>
                    <a:pt x="0" y="0"/>
                  </a:moveTo>
                  <a:lnTo>
                    <a:pt x="564048" y="0"/>
                  </a:lnTo>
                  <a:lnTo>
                    <a:pt x="564048" y="220195"/>
                  </a:lnTo>
                  <a:lnTo>
                    <a:pt x="0" y="220195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14300"/>
              <a:ext cx="564048" cy="334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606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9537318" y="24112538"/>
            <a:ext cx="5408776" cy="1080405"/>
          </a:xfrm>
          <a:custGeom>
            <a:avLst/>
            <a:gdLst/>
            <a:ahLst/>
            <a:cxnLst/>
            <a:rect r="r" b="b" t="t" l="l"/>
            <a:pathLst>
              <a:path h="1080405" w="5408776">
                <a:moveTo>
                  <a:pt x="0" y="0"/>
                </a:moveTo>
                <a:lnTo>
                  <a:pt x="5408776" y="0"/>
                </a:lnTo>
                <a:lnTo>
                  <a:pt x="5408776" y="1080404"/>
                </a:lnTo>
                <a:lnTo>
                  <a:pt x="0" y="10804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78906" y="5220093"/>
            <a:ext cx="18097539" cy="1059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0"/>
              </a:lnSpc>
              <a:spcBef>
                <a:spcPct val="0"/>
              </a:spcBef>
            </a:pPr>
            <a:r>
              <a:rPr lang="en-US" sz="62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Time From CVE to Exploitation Evidence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78906" y="2456001"/>
            <a:ext cx="26833633" cy="231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21"/>
              </a:lnSpc>
            </a:pPr>
            <a:r>
              <a:rPr lang="en-US" sz="1351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10 Targeted Technologies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66998" y="20669032"/>
            <a:ext cx="555532" cy="93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8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542477" y="20669032"/>
            <a:ext cx="1110935" cy="93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8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257784" y="20669032"/>
            <a:ext cx="1110935" cy="93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8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40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116904" y="20669032"/>
            <a:ext cx="1110935" cy="93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8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60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880968" y="20669032"/>
            <a:ext cx="1110935" cy="93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8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80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279627" y="20669032"/>
            <a:ext cx="1666467" cy="93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8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5762381" y="21923835"/>
            <a:ext cx="3750159" cy="93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56"/>
              </a:lnSpc>
            </a:pPr>
            <a:r>
              <a:rPr lang="en-US" sz="5468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% of KEVs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06010" y="10738605"/>
            <a:ext cx="24847859" cy="5516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4"/>
              </a:lnSpc>
            </a:pPr>
            <a:r>
              <a:rPr lang="en-US" sz="1963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CISA KEV Comparison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9893969" y="24114442"/>
            <a:ext cx="5970760" cy="1192661"/>
          </a:xfrm>
          <a:custGeom>
            <a:avLst/>
            <a:gdLst/>
            <a:ahLst/>
            <a:cxnLst/>
            <a:rect r="r" b="b" t="t" l="l"/>
            <a:pathLst>
              <a:path h="1192661" w="5970760">
                <a:moveTo>
                  <a:pt x="0" y="0"/>
                </a:moveTo>
                <a:lnTo>
                  <a:pt x="5970760" y="0"/>
                </a:lnTo>
                <a:lnTo>
                  <a:pt x="5970760" y="1192662"/>
                </a:lnTo>
                <a:lnTo>
                  <a:pt x="0" y="1192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862978">
            <a:off x="26051276" y="-11471931"/>
            <a:ext cx="29894565" cy="38698467"/>
          </a:xfrm>
          <a:custGeom>
            <a:avLst/>
            <a:gdLst/>
            <a:ahLst/>
            <a:cxnLst/>
            <a:rect r="r" b="b" t="t" l="l"/>
            <a:pathLst>
              <a:path h="38698467" w="29894565">
                <a:moveTo>
                  <a:pt x="0" y="0"/>
                </a:moveTo>
                <a:lnTo>
                  <a:pt x="29894566" y="0"/>
                </a:lnTo>
                <a:lnTo>
                  <a:pt x="29894566" y="38698467"/>
                </a:lnTo>
                <a:lnTo>
                  <a:pt x="0" y="38698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78906" y="10226681"/>
            <a:ext cx="42267188" cy="5641411"/>
          </a:xfrm>
          <a:custGeom>
            <a:avLst/>
            <a:gdLst/>
            <a:ahLst/>
            <a:cxnLst/>
            <a:rect r="r" b="b" t="t" l="l"/>
            <a:pathLst>
              <a:path h="5641411" w="42267188">
                <a:moveTo>
                  <a:pt x="0" y="0"/>
                </a:moveTo>
                <a:lnTo>
                  <a:pt x="42267188" y="0"/>
                </a:lnTo>
                <a:lnTo>
                  <a:pt x="42267188" y="5641412"/>
                </a:lnTo>
                <a:lnTo>
                  <a:pt x="0" y="56414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98" t="-2768" r="-1776" b="-95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78906" y="2681288"/>
            <a:ext cx="42267188" cy="5731118"/>
          </a:xfrm>
          <a:custGeom>
            <a:avLst/>
            <a:gdLst/>
            <a:ahLst/>
            <a:cxnLst/>
            <a:rect r="r" b="b" t="t" l="l"/>
            <a:pathLst>
              <a:path h="5731118" w="42267188">
                <a:moveTo>
                  <a:pt x="0" y="0"/>
                </a:moveTo>
                <a:lnTo>
                  <a:pt x="42267188" y="0"/>
                </a:lnTo>
                <a:lnTo>
                  <a:pt x="42267188" y="5731117"/>
                </a:lnTo>
                <a:lnTo>
                  <a:pt x="0" y="57311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00" t="0" r="-1881" b="-10661"/>
            </a:stretch>
          </a:blipFill>
        </p:spPr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2468370" y="13402745"/>
            <a:ext cx="51706018" cy="14772971"/>
          </a:xfrm>
          <a:prstGeom prst="rect">
            <a:avLst/>
          </a:prstGeom>
        </p:spPr>
      </p:pic>
      <p:sp>
        <p:nvSpPr>
          <p:cNvPr name="Freeform 5" id="5"/>
          <p:cNvSpPr/>
          <p:nvPr/>
        </p:nvSpPr>
        <p:spPr>
          <a:xfrm flipH="false" flipV="false" rot="0">
            <a:off x="42130311" y="25434460"/>
            <a:ext cx="4834554" cy="965704"/>
          </a:xfrm>
          <a:custGeom>
            <a:avLst/>
            <a:gdLst/>
            <a:ahLst/>
            <a:cxnLst/>
            <a:rect r="r" b="b" t="t" l="l"/>
            <a:pathLst>
              <a:path h="965704" w="4834554">
                <a:moveTo>
                  <a:pt x="0" y="0"/>
                </a:moveTo>
                <a:lnTo>
                  <a:pt x="4834554" y="0"/>
                </a:lnTo>
                <a:lnTo>
                  <a:pt x="4834554" y="965703"/>
                </a:lnTo>
                <a:lnTo>
                  <a:pt x="0" y="9657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678906" y="16205737"/>
            <a:ext cx="6191289" cy="1059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0"/>
              </a:lnSpc>
            </a:pPr>
            <a:r>
              <a:rPr lang="en-US" sz="62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VulnCheck KEV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78906" y="8573137"/>
            <a:ext cx="3810039" cy="1059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50"/>
              </a:lnSpc>
            </a:pPr>
            <a:r>
              <a:rPr lang="en-US" sz="6250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CISA KEV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78906" y="4107816"/>
            <a:ext cx="42267188" cy="21642324"/>
          </a:xfrm>
          <a:custGeom>
            <a:avLst/>
            <a:gdLst/>
            <a:ahLst/>
            <a:cxnLst/>
            <a:rect r="r" b="b" t="t" l="l"/>
            <a:pathLst>
              <a:path h="21642324" w="42267188">
                <a:moveTo>
                  <a:pt x="0" y="0"/>
                </a:moveTo>
                <a:lnTo>
                  <a:pt x="42267188" y="0"/>
                </a:lnTo>
                <a:lnTo>
                  <a:pt x="42267188" y="21642324"/>
                </a:lnTo>
                <a:lnTo>
                  <a:pt x="0" y="21642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41" t="-8658" r="-1674" b="-332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78906" y="2072491"/>
            <a:ext cx="36680125" cy="167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92"/>
              </a:lnSpc>
            </a:pPr>
            <a:r>
              <a:rPr lang="en-US" sz="98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Exploitation of Real Vulnerable Hosts, Not on CISA KEV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79383" y="10748765"/>
            <a:ext cx="18921808" cy="5496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4"/>
              </a:lnSpc>
            </a:pPr>
            <a:r>
              <a:rPr lang="en-US" sz="1953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Ransomware Attribution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9893969" y="24114442"/>
            <a:ext cx="5970760" cy="1192661"/>
          </a:xfrm>
          <a:custGeom>
            <a:avLst/>
            <a:gdLst/>
            <a:ahLst/>
            <a:cxnLst/>
            <a:rect r="r" b="b" t="t" l="l"/>
            <a:pathLst>
              <a:path h="1192661" w="5970760">
                <a:moveTo>
                  <a:pt x="0" y="0"/>
                </a:moveTo>
                <a:lnTo>
                  <a:pt x="5970760" y="0"/>
                </a:lnTo>
                <a:lnTo>
                  <a:pt x="5970760" y="1192662"/>
                </a:lnTo>
                <a:lnTo>
                  <a:pt x="0" y="11926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288107">
            <a:off x="26051276" y="-9869537"/>
            <a:ext cx="29894565" cy="38698467"/>
          </a:xfrm>
          <a:custGeom>
            <a:avLst/>
            <a:gdLst/>
            <a:ahLst/>
            <a:cxnLst/>
            <a:rect r="r" b="b" t="t" l="l"/>
            <a:pathLst>
              <a:path h="38698467" w="29894565">
                <a:moveTo>
                  <a:pt x="0" y="0"/>
                </a:moveTo>
                <a:lnTo>
                  <a:pt x="29894566" y="0"/>
                </a:lnTo>
                <a:lnTo>
                  <a:pt x="29894566" y="38698467"/>
                </a:lnTo>
                <a:lnTo>
                  <a:pt x="0" y="386984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78906" y="2909367"/>
            <a:ext cx="42267188" cy="20975092"/>
          </a:xfrm>
          <a:custGeom>
            <a:avLst/>
            <a:gdLst/>
            <a:ahLst/>
            <a:cxnLst/>
            <a:rect r="r" b="b" t="t" l="l"/>
            <a:pathLst>
              <a:path h="20975092" w="42267188">
                <a:moveTo>
                  <a:pt x="0" y="0"/>
                </a:moveTo>
                <a:lnTo>
                  <a:pt x="42267188" y="0"/>
                </a:lnTo>
                <a:lnTo>
                  <a:pt x="42267188" y="20975091"/>
                </a:lnTo>
                <a:lnTo>
                  <a:pt x="0" y="209750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864466" y="24120236"/>
            <a:ext cx="6081628" cy="1214807"/>
          </a:xfrm>
          <a:custGeom>
            <a:avLst/>
            <a:gdLst/>
            <a:ahLst/>
            <a:cxnLst/>
            <a:rect r="r" b="b" t="t" l="l"/>
            <a:pathLst>
              <a:path h="1214807" w="6081628">
                <a:moveTo>
                  <a:pt x="0" y="0"/>
                </a:moveTo>
                <a:lnTo>
                  <a:pt x="6081628" y="0"/>
                </a:lnTo>
                <a:lnTo>
                  <a:pt x="6081628" y="1214807"/>
                </a:lnTo>
                <a:lnTo>
                  <a:pt x="0" y="12148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20165" y="2681288"/>
            <a:ext cx="31753921" cy="19300185"/>
          </a:xfrm>
          <a:custGeom>
            <a:avLst/>
            <a:gdLst/>
            <a:ahLst/>
            <a:cxnLst/>
            <a:rect r="r" b="b" t="t" l="l"/>
            <a:pathLst>
              <a:path h="19300185" w="31753921">
                <a:moveTo>
                  <a:pt x="0" y="0"/>
                </a:moveTo>
                <a:lnTo>
                  <a:pt x="31753921" y="0"/>
                </a:lnTo>
                <a:lnTo>
                  <a:pt x="31753921" y="19300185"/>
                </a:lnTo>
                <a:lnTo>
                  <a:pt x="0" y="193001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296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78906" y="2500313"/>
            <a:ext cx="10513266" cy="867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92"/>
              </a:lnSpc>
            </a:pPr>
            <a:r>
              <a:rPr lang="en-US" sz="9851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 from CVE Disclosure to Known Exploitation (2025 vs. 2024)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8864466" y="24120236"/>
            <a:ext cx="6081628" cy="1214807"/>
          </a:xfrm>
          <a:custGeom>
            <a:avLst/>
            <a:gdLst/>
            <a:ahLst/>
            <a:cxnLst/>
            <a:rect r="r" b="b" t="t" l="l"/>
            <a:pathLst>
              <a:path h="1214807" w="6081628">
                <a:moveTo>
                  <a:pt x="0" y="0"/>
                </a:moveTo>
                <a:lnTo>
                  <a:pt x="6081628" y="0"/>
                </a:lnTo>
                <a:lnTo>
                  <a:pt x="6081628" y="1214807"/>
                </a:lnTo>
                <a:lnTo>
                  <a:pt x="0" y="12148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DAG_K8VBTeo</dc:identifier>
  <dcterms:modified xsi:type="dcterms:W3CDTF">2011-08-01T06:04:30Z</dcterms:modified>
  <cp:revision>1</cp:revision>
  <dc:title>Copy of 2025 State of Exploitation Report</dc:title>
</cp:coreProperties>
</file>